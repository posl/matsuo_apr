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3"/>
  </p:notesMasterIdLst>
  <p:sldIdLst>
    <p:sldId id="256" r:id="rId2"/>
    <p:sldId id="259" r:id="rId3"/>
    <p:sldId id="262" r:id="rId4"/>
    <p:sldId id="270" r:id="rId5"/>
    <p:sldId id="266" r:id="rId6"/>
    <p:sldId id="260" r:id="rId7"/>
    <p:sldId id="264" r:id="rId8"/>
    <p:sldId id="263" r:id="rId9"/>
    <p:sldId id="265" r:id="rId10"/>
    <p:sldId id="268" r:id="rId11"/>
    <p:sldId id="271"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91"/>
    <p:restoredTop sz="95789"/>
  </p:normalViewPr>
  <p:slideViewPr>
    <p:cSldViewPr snapToGrid="0" snapToObjects="1">
      <p:cViewPr varScale="1">
        <p:scale>
          <a:sx n="110" d="100"/>
          <a:sy n="110" d="100"/>
        </p:scale>
        <p:origin x="39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82EB2E-033D-3742-966C-A2A7E6E9CF8D}" type="datetimeFigureOut">
              <a:rPr kumimoji="1" lang="ja-JP" altLang="en-US" smtClean="0"/>
              <a:t>2021/6/3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71FC9B-E9BB-874A-82B7-068B0B92587D}" type="slidenum">
              <a:rPr kumimoji="1" lang="ja-JP" altLang="en-US" smtClean="0"/>
              <a:t>‹#›</a:t>
            </a:fld>
            <a:endParaRPr kumimoji="1" lang="ja-JP" altLang="en-US"/>
          </a:p>
        </p:txBody>
      </p:sp>
    </p:spTree>
    <p:extLst>
      <p:ext uri="{BB962C8B-B14F-4D97-AF65-F5344CB8AC3E}">
        <p14:creationId xmlns:p14="http://schemas.microsoft.com/office/powerpoint/2010/main" val="63300021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日本では文部科学省により改定された学習指導要領には小中高ともにプログラミングをはじめとする情報分野の教育内容が大幅に拡充された．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471FC9B-E9BB-874A-82B7-068B0B92587D}" type="slidenum">
              <a:rPr kumimoji="1" lang="ja-JP" altLang="en-US" smtClean="0"/>
              <a:t>1</a:t>
            </a:fld>
            <a:endParaRPr kumimoji="1" lang="ja-JP" altLang="en-US"/>
          </a:p>
        </p:txBody>
      </p:sp>
    </p:spTree>
    <p:extLst>
      <p:ext uri="{BB962C8B-B14F-4D97-AF65-F5344CB8AC3E}">
        <p14:creationId xmlns:p14="http://schemas.microsoft.com/office/powerpoint/2010/main" val="263112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日本では文部科学省により改定された学習指導要領には小中高ともにプログラミングをはじめとする情報分野の教育内容が大幅に拡充された．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471FC9B-E9BB-874A-82B7-068B0B92587D}" type="slidenum">
              <a:rPr kumimoji="1" lang="ja-JP" altLang="en-US" smtClean="0"/>
              <a:t>2</a:t>
            </a:fld>
            <a:endParaRPr kumimoji="1" lang="ja-JP" altLang="en-US"/>
          </a:p>
        </p:txBody>
      </p:sp>
    </p:spTree>
    <p:extLst>
      <p:ext uri="{BB962C8B-B14F-4D97-AF65-F5344CB8AC3E}">
        <p14:creationId xmlns:p14="http://schemas.microsoft.com/office/powerpoint/2010/main" val="583759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日本では文部科学省により改定された学習指導要領には小中高ともにプログラミングをはじめとする情報分野の教育内容が大幅に拡充された．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471FC9B-E9BB-874A-82B7-068B0B92587D}" type="slidenum">
              <a:rPr kumimoji="1" lang="ja-JP" altLang="en-US" smtClean="0"/>
              <a:t>3</a:t>
            </a:fld>
            <a:endParaRPr kumimoji="1" lang="ja-JP" altLang="en-US"/>
          </a:p>
        </p:txBody>
      </p:sp>
    </p:spTree>
    <p:extLst>
      <p:ext uri="{BB962C8B-B14F-4D97-AF65-F5344CB8AC3E}">
        <p14:creationId xmlns:p14="http://schemas.microsoft.com/office/powerpoint/2010/main" val="3794297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日本では文部科学省により改定された学習指導要領には小中高ともにプログラミングをはじめとする情報分野の教育内容が大幅に拡充された．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471FC9B-E9BB-874A-82B7-068B0B92587D}" type="slidenum">
              <a:rPr kumimoji="1" lang="ja-JP" altLang="en-US" smtClean="0"/>
              <a:t>4</a:t>
            </a:fld>
            <a:endParaRPr kumimoji="1" lang="ja-JP" altLang="en-US"/>
          </a:p>
        </p:txBody>
      </p:sp>
    </p:spTree>
    <p:extLst>
      <p:ext uri="{BB962C8B-B14F-4D97-AF65-F5344CB8AC3E}">
        <p14:creationId xmlns:p14="http://schemas.microsoft.com/office/powerpoint/2010/main" val="3963856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日本では文部科学省により改定された学習指導要領には小中高ともにプログラミングをはじめとする情報分野の教育内容が大幅に拡充された．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471FC9B-E9BB-874A-82B7-068B0B92587D}" type="slidenum">
              <a:rPr kumimoji="1" lang="ja-JP" altLang="en-US" smtClean="0"/>
              <a:t>5</a:t>
            </a:fld>
            <a:endParaRPr kumimoji="1" lang="ja-JP" altLang="en-US"/>
          </a:p>
        </p:txBody>
      </p:sp>
    </p:spTree>
    <p:extLst>
      <p:ext uri="{BB962C8B-B14F-4D97-AF65-F5344CB8AC3E}">
        <p14:creationId xmlns:p14="http://schemas.microsoft.com/office/powerpoint/2010/main" val="3756380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日本では文部科学省により改定された学習指導要領には小中高ともにプログラミングをはじめとする情報分野の教育内容が大幅に拡充された．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471FC9B-E9BB-874A-82B7-068B0B92587D}" type="slidenum">
              <a:rPr kumimoji="1" lang="ja-JP" altLang="en-US" smtClean="0"/>
              <a:t>6</a:t>
            </a:fld>
            <a:endParaRPr kumimoji="1" lang="ja-JP" altLang="en-US"/>
          </a:p>
        </p:txBody>
      </p:sp>
    </p:spTree>
    <p:extLst>
      <p:ext uri="{BB962C8B-B14F-4D97-AF65-F5344CB8AC3E}">
        <p14:creationId xmlns:p14="http://schemas.microsoft.com/office/powerpoint/2010/main" val="2344343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日本では文部科学省により改定された学習指導要領には小中高ともにプログラミングをはじめとする情報分野の教育内容が大幅に拡充された．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471FC9B-E9BB-874A-82B7-068B0B92587D}" type="slidenum">
              <a:rPr kumimoji="1" lang="ja-JP" altLang="en-US" smtClean="0"/>
              <a:t>7</a:t>
            </a:fld>
            <a:endParaRPr kumimoji="1" lang="ja-JP" altLang="en-US"/>
          </a:p>
        </p:txBody>
      </p:sp>
    </p:spTree>
    <p:extLst>
      <p:ext uri="{BB962C8B-B14F-4D97-AF65-F5344CB8AC3E}">
        <p14:creationId xmlns:p14="http://schemas.microsoft.com/office/powerpoint/2010/main" val="1677691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日本では文部科学省により改定された学習指導要領には小中高ともにプログラミングをはじめとする情報分野の教育内容が大幅に拡充された．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471FC9B-E9BB-874A-82B7-068B0B92587D}" type="slidenum">
              <a:rPr kumimoji="1" lang="ja-JP" altLang="en-US" smtClean="0"/>
              <a:t>8</a:t>
            </a:fld>
            <a:endParaRPr kumimoji="1" lang="ja-JP" altLang="en-US"/>
          </a:p>
        </p:txBody>
      </p:sp>
    </p:spTree>
    <p:extLst>
      <p:ext uri="{BB962C8B-B14F-4D97-AF65-F5344CB8AC3E}">
        <p14:creationId xmlns:p14="http://schemas.microsoft.com/office/powerpoint/2010/main" val="906964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日本では文部科学省により改定された学習指導要領には小中高ともにプログラミングをはじめとする情報分野の教育内容が大幅に拡充された．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471FC9B-E9BB-874A-82B7-068B0B92587D}" type="slidenum">
              <a:rPr kumimoji="1" lang="ja-JP" altLang="en-US" smtClean="0"/>
              <a:t>9</a:t>
            </a:fld>
            <a:endParaRPr kumimoji="1" lang="ja-JP" altLang="en-US"/>
          </a:p>
        </p:txBody>
      </p:sp>
    </p:spTree>
    <p:extLst>
      <p:ext uri="{BB962C8B-B14F-4D97-AF65-F5344CB8AC3E}">
        <p14:creationId xmlns:p14="http://schemas.microsoft.com/office/powerpoint/2010/main" val="2435366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日本では文部科学省により改定された学習指導要領には小中高ともにプログラミングをはじめとする情報分野の教育内容が大幅に拡充された．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471FC9B-E9BB-874A-82B7-068B0B92587D}" type="slidenum">
              <a:rPr kumimoji="1" lang="ja-JP" altLang="en-US" smtClean="0"/>
              <a:t>10</a:t>
            </a:fld>
            <a:endParaRPr kumimoji="1" lang="ja-JP" altLang="en-US"/>
          </a:p>
        </p:txBody>
      </p:sp>
    </p:spTree>
    <p:extLst>
      <p:ext uri="{BB962C8B-B14F-4D97-AF65-F5344CB8AC3E}">
        <p14:creationId xmlns:p14="http://schemas.microsoft.com/office/powerpoint/2010/main" val="1861067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E0E672-0425-5F4F-ABA5-183FC6658E4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4710EE7-D1EB-944B-A978-D18E89356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8C35E76-2E99-1045-B6F9-87E9B66839CC}"/>
              </a:ext>
            </a:extLst>
          </p:cNvPr>
          <p:cNvSpPr>
            <a:spLocks noGrp="1"/>
          </p:cNvSpPr>
          <p:nvPr>
            <p:ph type="dt" sz="half" idx="10"/>
          </p:nvPr>
        </p:nvSpPr>
        <p:spPr/>
        <p:txBody>
          <a:bodyPr/>
          <a:lstStyle/>
          <a:p>
            <a:fld id="{98434346-845F-8B45-998E-658522A43857}" type="datetime1">
              <a:rPr kumimoji="1" lang="ja-JP" altLang="en-US" smtClean="0"/>
              <a:t>2021/6/3</a:t>
            </a:fld>
            <a:endParaRPr kumimoji="1" lang="ja-JP" altLang="en-US"/>
          </a:p>
        </p:txBody>
      </p:sp>
      <p:sp>
        <p:nvSpPr>
          <p:cNvPr id="5" name="フッター プレースホルダー 4">
            <a:extLst>
              <a:ext uri="{FF2B5EF4-FFF2-40B4-BE49-F238E27FC236}">
                <a16:creationId xmlns:a16="http://schemas.microsoft.com/office/drawing/2014/main" id="{4475115D-E43B-DE46-B8DA-73D31BF7CC7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221EE74-E74E-E34F-A6C2-C2964A9683B5}"/>
              </a:ext>
            </a:extLst>
          </p:cNvPr>
          <p:cNvSpPr>
            <a:spLocks noGrp="1"/>
          </p:cNvSpPr>
          <p:nvPr>
            <p:ph type="sldNum" sz="quarter" idx="12"/>
          </p:nvPr>
        </p:nvSpPr>
        <p:spPr/>
        <p:txBody>
          <a:body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546733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A35F3C-6FF0-4346-A1EB-7CE8BF0D851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F98CE7C-16AB-2143-A312-C65A149130A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DA0816D-4459-124D-B345-F39D1A922BBC}"/>
              </a:ext>
            </a:extLst>
          </p:cNvPr>
          <p:cNvSpPr>
            <a:spLocks noGrp="1"/>
          </p:cNvSpPr>
          <p:nvPr>
            <p:ph type="dt" sz="half" idx="10"/>
          </p:nvPr>
        </p:nvSpPr>
        <p:spPr/>
        <p:txBody>
          <a:bodyPr/>
          <a:lstStyle/>
          <a:p>
            <a:fld id="{7ADCA710-34FE-FC48-A87C-1D4E6452A822}" type="datetime1">
              <a:rPr kumimoji="1" lang="ja-JP" altLang="en-US" smtClean="0"/>
              <a:t>2021/6/3</a:t>
            </a:fld>
            <a:endParaRPr kumimoji="1" lang="ja-JP" altLang="en-US"/>
          </a:p>
        </p:txBody>
      </p:sp>
      <p:sp>
        <p:nvSpPr>
          <p:cNvPr id="5" name="フッター プレースホルダー 4">
            <a:extLst>
              <a:ext uri="{FF2B5EF4-FFF2-40B4-BE49-F238E27FC236}">
                <a16:creationId xmlns:a16="http://schemas.microsoft.com/office/drawing/2014/main" id="{28AA85AE-80DA-654B-A3EB-2A7B4FC0E7E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73F6A8C-B105-4C49-BFFE-20D3BA1565EF}"/>
              </a:ext>
            </a:extLst>
          </p:cNvPr>
          <p:cNvSpPr>
            <a:spLocks noGrp="1"/>
          </p:cNvSpPr>
          <p:nvPr>
            <p:ph type="sldNum" sz="quarter" idx="12"/>
          </p:nvPr>
        </p:nvSpPr>
        <p:spPr/>
        <p:txBody>
          <a:body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2421047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00114-CACC-D645-8805-65034B49CC6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A5D903C-C8F2-6B4F-969C-5FE9B05374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01AF56F-9226-4A47-8CE4-78874F245EBE}"/>
              </a:ext>
            </a:extLst>
          </p:cNvPr>
          <p:cNvSpPr>
            <a:spLocks noGrp="1"/>
          </p:cNvSpPr>
          <p:nvPr>
            <p:ph type="dt" sz="half" idx="10"/>
          </p:nvPr>
        </p:nvSpPr>
        <p:spPr/>
        <p:txBody>
          <a:bodyPr/>
          <a:lstStyle/>
          <a:p>
            <a:fld id="{BE856867-9F74-1740-B143-E3A866EDCDE0}" type="datetime1">
              <a:rPr kumimoji="1" lang="ja-JP" altLang="en-US" smtClean="0"/>
              <a:t>2021/6/3</a:t>
            </a:fld>
            <a:endParaRPr kumimoji="1" lang="ja-JP" altLang="en-US"/>
          </a:p>
        </p:txBody>
      </p:sp>
      <p:sp>
        <p:nvSpPr>
          <p:cNvPr id="5" name="フッター プレースホルダー 4">
            <a:extLst>
              <a:ext uri="{FF2B5EF4-FFF2-40B4-BE49-F238E27FC236}">
                <a16:creationId xmlns:a16="http://schemas.microsoft.com/office/drawing/2014/main" id="{3A8F584F-2829-8749-9371-0996B086ECB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76B9C16-FC4F-214C-BF31-3D4DBC826C66}"/>
              </a:ext>
            </a:extLst>
          </p:cNvPr>
          <p:cNvSpPr>
            <a:spLocks noGrp="1"/>
          </p:cNvSpPr>
          <p:nvPr>
            <p:ph type="sldNum" sz="quarter" idx="12"/>
          </p:nvPr>
        </p:nvSpPr>
        <p:spPr/>
        <p:txBody>
          <a:body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94520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D893EA-4E55-0447-BD30-19B6A84A403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6469750-2711-2A45-9A9F-16FA9B802E9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515B991-4B87-BC48-BB21-228FB65B61D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478A637-4DC7-E74B-BA8D-ED13A32C9714}"/>
              </a:ext>
            </a:extLst>
          </p:cNvPr>
          <p:cNvSpPr>
            <a:spLocks noGrp="1"/>
          </p:cNvSpPr>
          <p:nvPr>
            <p:ph type="dt" sz="half" idx="10"/>
          </p:nvPr>
        </p:nvSpPr>
        <p:spPr/>
        <p:txBody>
          <a:bodyPr/>
          <a:lstStyle/>
          <a:p>
            <a:fld id="{7E644599-8392-7647-A8A7-BED2134B15BA}" type="datetime1">
              <a:rPr kumimoji="1" lang="ja-JP" altLang="en-US" smtClean="0"/>
              <a:t>2021/6/3</a:t>
            </a:fld>
            <a:endParaRPr kumimoji="1" lang="ja-JP" altLang="en-US"/>
          </a:p>
        </p:txBody>
      </p:sp>
      <p:sp>
        <p:nvSpPr>
          <p:cNvPr id="6" name="フッター プレースホルダー 5">
            <a:extLst>
              <a:ext uri="{FF2B5EF4-FFF2-40B4-BE49-F238E27FC236}">
                <a16:creationId xmlns:a16="http://schemas.microsoft.com/office/drawing/2014/main" id="{801055F8-981E-7440-A1AF-CD6864CF36E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4F64C9A-DCD6-B74F-8F5C-5A00A75C7681}"/>
              </a:ext>
            </a:extLst>
          </p:cNvPr>
          <p:cNvSpPr>
            <a:spLocks noGrp="1"/>
          </p:cNvSpPr>
          <p:nvPr>
            <p:ph type="sldNum" sz="quarter" idx="12"/>
          </p:nvPr>
        </p:nvSpPr>
        <p:spPr/>
        <p:txBody>
          <a:body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2968374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66FB50-620B-9949-9684-61E9907E45E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22B5927-8386-834D-98D2-6F3778F4F9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3ADBA40-6BC6-0B4D-A837-2A9BC1C94EB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C5C6A06-E532-C74B-8CBE-C1D0CDDAE4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A49B30B-F08C-A746-88F7-F4A8F0A04DD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89BBC46-9FBA-F44D-BBD7-B5A91E5DDF0C}"/>
              </a:ext>
            </a:extLst>
          </p:cNvPr>
          <p:cNvSpPr>
            <a:spLocks noGrp="1"/>
          </p:cNvSpPr>
          <p:nvPr>
            <p:ph type="dt" sz="half" idx="10"/>
          </p:nvPr>
        </p:nvSpPr>
        <p:spPr/>
        <p:txBody>
          <a:bodyPr/>
          <a:lstStyle/>
          <a:p>
            <a:fld id="{0F04D14E-6C79-7849-BD4E-E0776ECC9E21}" type="datetime1">
              <a:rPr kumimoji="1" lang="ja-JP" altLang="en-US" smtClean="0"/>
              <a:t>2021/6/3</a:t>
            </a:fld>
            <a:endParaRPr kumimoji="1" lang="ja-JP" altLang="en-US"/>
          </a:p>
        </p:txBody>
      </p:sp>
      <p:sp>
        <p:nvSpPr>
          <p:cNvPr id="8" name="フッター プレースホルダー 7">
            <a:extLst>
              <a:ext uri="{FF2B5EF4-FFF2-40B4-BE49-F238E27FC236}">
                <a16:creationId xmlns:a16="http://schemas.microsoft.com/office/drawing/2014/main" id="{F813AC29-DE7D-CA4B-B887-50E910CD57D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0658F81-A79C-1E4E-A03F-3BDF9D6CA912}"/>
              </a:ext>
            </a:extLst>
          </p:cNvPr>
          <p:cNvSpPr>
            <a:spLocks noGrp="1"/>
          </p:cNvSpPr>
          <p:nvPr>
            <p:ph type="sldNum" sz="quarter" idx="12"/>
          </p:nvPr>
        </p:nvSpPr>
        <p:spPr/>
        <p:txBody>
          <a:body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3771518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DE4559-1161-1A49-84E4-CA9F457244C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CC283AB-2468-8D47-98DB-55732370ABB3}"/>
              </a:ext>
            </a:extLst>
          </p:cNvPr>
          <p:cNvSpPr>
            <a:spLocks noGrp="1"/>
          </p:cNvSpPr>
          <p:nvPr>
            <p:ph type="dt" sz="half" idx="10"/>
          </p:nvPr>
        </p:nvSpPr>
        <p:spPr/>
        <p:txBody>
          <a:bodyPr/>
          <a:lstStyle/>
          <a:p>
            <a:fld id="{9AFD7BD8-0618-2A4F-9049-DAEB411C429B}" type="datetime1">
              <a:rPr kumimoji="1" lang="ja-JP" altLang="en-US" smtClean="0"/>
              <a:t>2021/6/3</a:t>
            </a:fld>
            <a:endParaRPr kumimoji="1" lang="ja-JP" altLang="en-US"/>
          </a:p>
        </p:txBody>
      </p:sp>
      <p:sp>
        <p:nvSpPr>
          <p:cNvPr id="4" name="フッター プレースホルダー 3">
            <a:extLst>
              <a:ext uri="{FF2B5EF4-FFF2-40B4-BE49-F238E27FC236}">
                <a16:creationId xmlns:a16="http://schemas.microsoft.com/office/drawing/2014/main" id="{5362E007-9165-B44F-A368-64455BB0A6B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2527634-A043-A34F-B2C7-57E0B948C7D4}"/>
              </a:ext>
            </a:extLst>
          </p:cNvPr>
          <p:cNvSpPr>
            <a:spLocks noGrp="1"/>
          </p:cNvSpPr>
          <p:nvPr>
            <p:ph type="sldNum" sz="quarter" idx="12"/>
          </p:nvPr>
        </p:nvSpPr>
        <p:spPr/>
        <p:txBody>
          <a:body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3401000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979287E-F538-2B48-B05A-590566A9B795}"/>
              </a:ext>
            </a:extLst>
          </p:cNvPr>
          <p:cNvSpPr>
            <a:spLocks noGrp="1"/>
          </p:cNvSpPr>
          <p:nvPr>
            <p:ph type="dt" sz="half" idx="10"/>
          </p:nvPr>
        </p:nvSpPr>
        <p:spPr/>
        <p:txBody>
          <a:bodyPr/>
          <a:lstStyle/>
          <a:p>
            <a:fld id="{EB5828C6-C628-DE47-9057-FB3972196F7D}" type="datetime1">
              <a:rPr kumimoji="1" lang="ja-JP" altLang="en-US" smtClean="0"/>
              <a:t>2021/6/3</a:t>
            </a:fld>
            <a:endParaRPr kumimoji="1" lang="ja-JP" altLang="en-US"/>
          </a:p>
        </p:txBody>
      </p:sp>
      <p:sp>
        <p:nvSpPr>
          <p:cNvPr id="3" name="フッター プレースホルダー 2">
            <a:extLst>
              <a:ext uri="{FF2B5EF4-FFF2-40B4-BE49-F238E27FC236}">
                <a16:creationId xmlns:a16="http://schemas.microsoft.com/office/drawing/2014/main" id="{F5658DAE-B4F3-1C41-A712-67603E61EFC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E3EF69B-8F89-F54A-9184-8DA82B5ED73E}"/>
              </a:ext>
            </a:extLst>
          </p:cNvPr>
          <p:cNvSpPr>
            <a:spLocks noGrp="1"/>
          </p:cNvSpPr>
          <p:nvPr>
            <p:ph type="sldNum" sz="quarter" idx="12"/>
          </p:nvPr>
        </p:nvSpPr>
        <p:spPr/>
        <p:txBody>
          <a:body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2359116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D46171-A39A-E946-8520-43555BD0D12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5FBA0FE-58EC-E749-B9D3-12E64EE178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33C4182-0663-AA40-90C2-52EFB77E49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AC2AB9F-1E85-3F4E-91AB-D0A19CF94B2A}"/>
              </a:ext>
            </a:extLst>
          </p:cNvPr>
          <p:cNvSpPr>
            <a:spLocks noGrp="1"/>
          </p:cNvSpPr>
          <p:nvPr>
            <p:ph type="dt" sz="half" idx="10"/>
          </p:nvPr>
        </p:nvSpPr>
        <p:spPr/>
        <p:txBody>
          <a:bodyPr/>
          <a:lstStyle/>
          <a:p>
            <a:fld id="{CCC2C49F-4B09-BF43-8B4C-9B2E1FE98CE5}" type="datetime1">
              <a:rPr kumimoji="1" lang="ja-JP" altLang="en-US" smtClean="0"/>
              <a:t>2021/6/3</a:t>
            </a:fld>
            <a:endParaRPr kumimoji="1" lang="ja-JP" altLang="en-US"/>
          </a:p>
        </p:txBody>
      </p:sp>
      <p:sp>
        <p:nvSpPr>
          <p:cNvPr id="6" name="フッター プレースホルダー 5">
            <a:extLst>
              <a:ext uri="{FF2B5EF4-FFF2-40B4-BE49-F238E27FC236}">
                <a16:creationId xmlns:a16="http://schemas.microsoft.com/office/drawing/2014/main" id="{0FA2F85C-08BB-934A-8B90-1FA2199F36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C65C6BE-A028-4049-9023-54DF67DF3FFD}"/>
              </a:ext>
            </a:extLst>
          </p:cNvPr>
          <p:cNvSpPr>
            <a:spLocks noGrp="1"/>
          </p:cNvSpPr>
          <p:nvPr>
            <p:ph type="sldNum" sz="quarter" idx="12"/>
          </p:nvPr>
        </p:nvSpPr>
        <p:spPr/>
        <p:txBody>
          <a:body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3809777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7F508B-4FFC-D14B-9765-5BA187DD6B4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4EBA091-9E21-C54D-83FE-FBB0F2C2A6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829E7B2-7D05-034F-BDE0-D46E0E1D11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45BC1FC-9650-4E4E-960F-A4A240DB7ADC}"/>
              </a:ext>
            </a:extLst>
          </p:cNvPr>
          <p:cNvSpPr>
            <a:spLocks noGrp="1"/>
          </p:cNvSpPr>
          <p:nvPr>
            <p:ph type="dt" sz="half" idx="10"/>
          </p:nvPr>
        </p:nvSpPr>
        <p:spPr/>
        <p:txBody>
          <a:bodyPr/>
          <a:lstStyle/>
          <a:p>
            <a:fld id="{83BDE022-2241-F644-93DD-DCF3191961D3}" type="datetime1">
              <a:rPr kumimoji="1" lang="ja-JP" altLang="en-US" smtClean="0"/>
              <a:t>2021/6/3</a:t>
            </a:fld>
            <a:endParaRPr kumimoji="1" lang="ja-JP" altLang="en-US"/>
          </a:p>
        </p:txBody>
      </p:sp>
      <p:sp>
        <p:nvSpPr>
          <p:cNvPr id="6" name="フッター プレースホルダー 5">
            <a:extLst>
              <a:ext uri="{FF2B5EF4-FFF2-40B4-BE49-F238E27FC236}">
                <a16:creationId xmlns:a16="http://schemas.microsoft.com/office/drawing/2014/main" id="{FE086B8C-EF09-2347-81BC-769944F77AC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6B8E246-F177-6E47-847E-CEB91390D1F2}"/>
              </a:ext>
            </a:extLst>
          </p:cNvPr>
          <p:cNvSpPr>
            <a:spLocks noGrp="1"/>
          </p:cNvSpPr>
          <p:nvPr>
            <p:ph type="sldNum" sz="quarter" idx="12"/>
          </p:nvPr>
        </p:nvSpPr>
        <p:spPr/>
        <p:txBody>
          <a:body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2164777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E72B9-7BA6-074B-B709-699AA7D546E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C5101CC-156B-B246-A890-9172107D74A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7AC90C5-AD86-AA44-8532-0AEDF3F98339}"/>
              </a:ext>
            </a:extLst>
          </p:cNvPr>
          <p:cNvSpPr>
            <a:spLocks noGrp="1"/>
          </p:cNvSpPr>
          <p:nvPr>
            <p:ph type="dt" sz="half" idx="10"/>
          </p:nvPr>
        </p:nvSpPr>
        <p:spPr/>
        <p:txBody>
          <a:bodyPr/>
          <a:lstStyle/>
          <a:p>
            <a:fld id="{2732DC97-A2EB-914D-B493-6453E92F408A}" type="datetime1">
              <a:rPr kumimoji="1" lang="ja-JP" altLang="en-US" smtClean="0"/>
              <a:t>2021/6/3</a:t>
            </a:fld>
            <a:endParaRPr kumimoji="1" lang="ja-JP" altLang="en-US"/>
          </a:p>
        </p:txBody>
      </p:sp>
      <p:sp>
        <p:nvSpPr>
          <p:cNvPr id="5" name="フッター プレースホルダー 4">
            <a:extLst>
              <a:ext uri="{FF2B5EF4-FFF2-40B4-BE49-F238E27FC236}">
                <a16:creationId xmlns:a16="http://schemas.microsoft.com/office/drawing/2014/main" id="{42290099-73D8-BE4B-93DB-716A16FD43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570A0B-177F-2F49-B0C8-A410FEAB1693}"/>
              </a:ext>
            </a:extLst>
          </p:cNvPr>
          <p:cNvSpPr>
            <a:spLocks noGrp="1"/>
          </p:cNvSpPr>
          <p:nvPr>
            <p:ph type="sldNum" sz="quarter" idx="12"/>
          </p:nvPr>
        </p:nvSpPr>
        <p:spPr/>
        <p:txBody>
          <a:body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222530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0A8D081-9163-2646-B1AC-28678B210F4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41DB23F-1850-3D41-96F9-0B2487DAE64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1B971B9-1FA9-4546-8FDC-AA13467C5920}"/>
              </a:ext>
            </a:extLst>
          </p:cNvPr>
          <p:cNvSpPr>
            <a:spLocks noGrp="1"/>
          </p:cNvSpPr>
          <p:nvPr>
            <p:ph type="dt" sz="half" idx="10"/>
          </p:nvPr>
        </p:nvSpPr>
        <p:spPr/>
        <p:txBody>
          <a:bodyPr/>
          <a:lstStyle/>
          <a:p>
            <a:fld id="{29C858BE-31B5-5747-9925-44479B98C430}" type="datetime1">
              <a:rPr kumimoji="1" lang="ja-JP" altLang="en-US" smtClean="0"/>
              <a:t>2021/6/3</a:t>
            </a:fld>
            <a:endParaRPr kumimoji="1" lang="ja-JP" altLang="en-US"/>
          </a:p>
        </p:txBody>
      </p:sp>
      <p:sp>
        <p:nvSpPr>
          <p:cNvPr id="5" name="フッター プレースホルダー 4">
            <a:extLst>
              <a:ext uri="{FF2B5EF4-FFF2-40B4-BE49-F238E27FC236}">
                <a16:creationId xmlns:a16="http://schemas.microsoft.com/office/drawing/2014/main" id="{29A880A8-8C49-9E4F-922D-4C95A7884C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5CC5F98-2259-BA42-BB30-F13FD3ADC901}"/>
              </a:ext>
            </a:extLst>
          </p:cNvPr>
          <p:cNvSpPr>
            <a:spLocks noGrp="1"/>
          </p:cNvSpPr>
          <p:nvPr>
            <p:ph type="sldNum" sz="quarter" idx="12"/>
          </p:nvPr>
        </p:nvSpPr>
        <p:spPr/>
        <p:txBody>
          <a:body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1156722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54B86DC-73D5-1C46-9C19-FDD9BEDA06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CE28E36-737F-E444-8E54-434E4E1183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1726250-C42E-A546-955F-CE4A36FB96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AE9E69-0575-DD40-BD7B-E8789262479F}" type="datetime1">
              <a:rPr kumimoji="1" lang="ja-JP" altLang="en-US" smtClean="0"/>
              <a:t>2021/6/3</a:t>
            </a:fld>
            <a:endParaRPr kumimoji="1" lang="ja-JP" altLang="en-US"/>
          </a:p>
        </p:txBody>
      </p:sp>
      <p:sp>
        <p:nvSpPr>
          <p:cNvPr id="5" name="フッター プレースホルダー 4">
            <a:extLst>
              <a:ext uri="{FF2B5EF4-FFF2-40B4-BE49-F238E27FC236}">
                <a16:creationId xmlns:a16="http://schemas.microsoft.com/office/drawing/2014/main" id="{74F62685-BD90-D145-B4E3-36FFE0B0F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C083D79-7C48-014A-9CA3-A758983FCB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022E7-004F-2642-A386-7968DDBA477C}" type="slidenum">
              <a:rPr kumimoji="1" lang="ja-JP" altLang="en-US" smtClean="0"/>
              <a:t>‹#›</a:t>
            </a:fld>
            <a:endParaRPr kumimoji="1" lang="ja-JP" altLang="en-US"/>
          </a:p>
        </p:txBody>
      </p:sp>
    </p:spTree>
    <p:extLst>
      <p:ext uri="{BB962C8B-B14F-4D97-AF65-F5344CB8AC3E}">
        <p14:creationId xmlns:p14="http://schemas.microsoft.com/office/powerpoint/2010/main" val="1847540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l.acm.org/doi/proceedings/10.1145/3377814"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13.png"/><Relationship Id="rId5" Type="http://schemas.openxmlformats.org/officeDocument/2006/relationships/image" Target="../media/image9.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18.svg"/><Relationship Id="rId4" Type="http://schemas.openxmlformats.org/officeDocument/2006/relationships/image" Target="../media/image2.svg"/><Relationship Id="rId9"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6B1ED1-B78B-CE46-A63B-A2C6D8A9B7D3}"/>
              </a:ext>
            </a:extLst>
          </p:cNvPr>
          <p:cNvSpPr>
            <a:spLocks noGrp="1"/>
          </p:cNvSpPr>
          <p:nvPr>
            <p:ph type="ctrTitle"/>
          </p:nvPr>
        </p:nvSpPr>
        <p:spPr/>
        <p:txBody>
          <a:bodyPr>
            <a:normAutofit fontScale="90000"/>
          </a:bodyPr>
          <a:lstStyle/>
          <a:p>
            <a:r>
              <a:rPr kumimoji="1" lang="ja-JP" altLang="en-US" b="1">
                <a:latin typeface="MS Gothic" panose="020B0609070205080204" pitchFamily="49" charset="-128"/>
                <a:ea typeface="MS Gothic" panose="020B0609070205080204" pitchFamily="49" charset="-128"/>
              </a:rPr>
              <a:t>プログラミング教育支援を</a:t>
            </a:r>
            <a:br>
              <a:rPr kumimoji="1" lang="en-US" altLang="ja-JP" b="1" dirty="0">
                <a:latin typeface="MS Gothic" panose="020B0609070205080204" pitchFamily="49" charset="-128"/>
                <a:ea typeface="MS Gothic" panose="020B0609070205080204" pitchFamily="49" charset="-128"/>
              </a:rPr>
            </a:br>
            <a:r>
              <a:rPr kumimoji="1" lang="ja-JP" altLang="en-US" b="1">
                <a:latin typeface="MS Gothic" panose="020B0609070205080204" pitchFamily="49" charset="-128"/>
                <a:ea typeface="MS Gothic" panose="020B0609070205080204" pitchFamily="49" charset="-128"/>
              </a:rPr>
              <a:t>目指した自動</a:t>
            </a:r>
            <a:r>
              <a:rPr lang="ja-JP" altLang="en-US" b="1">
                <a:latin typeface="MS Gothic" panose="020B0609070205080204" pitchFamily="49" charset="-128"/>
                <a:ea typeface="MS Gothic" panose="020B0609070205080204" pitchFamily="49" charset="-128"/>
              </a:rPr>
              <a:t>プログラム修正</a:t>
            </a:r>
            <a:r>
              <a:rPr kumimoji="1" lang="ja-JP" altLang="en-US" b="1">
                <a:latin typeface="MS Gothic" panose="020B0609070205080204" pitchFamily="49" charset="-128"/>
                <a:ea typeface="MS Gothic" panose="020B0609070205080204" pitchFamily="49" charset="-128"/>
              </a:rPr>
              <a:t>に関する研究</a:t>
            </a:r>
          </a:p>
        </p:txBody>
      </p:sp>
      <p:sp>
        <p:nvSpPr>
          <p:cNvPr id="3" name="字幕 2">
            <a:extLst>
              <a:ext uri="{FF2B5EF4-FFF2-40B4-BE49-F238E27FC236}">
                <a16:creationId xmlns:a16="http://schemas.microsoft.com/office/drawing/2014/main" id="{8D5784C0-A0B2-5E43-9DD3-675623B15434}"/>
              </a:ext>
            </a:extLst>
          </p:cNvPr>
          <p:cNvSpPr>
            <a:spLocks noGrp="1"/>
          </p:cNvSpPr>
          <p:nvPr>
            <p:ph type="subTitle" idx="1"/>
          </p:nvPr>
        </p:nvSpPr>
        <p:spPr>
          <a:xfrm>
            <a:off x="1524000" y="4402138"/>
            <a:ext cx="9144000" cy="1655762"/>
          </a:xfrm>
        </p:spPr>
        <p:txBody>
          <a:bodyPr>
            <a:normAutofit/>
          </a:bodyPr>
          <a:lstStyle/>
          <a:p>
            <a:r>
              <a:rPr lang="ja-JP" altLang="en-US" sz="3600">
                <a:latin typeface="MS Gothic" panose="020B0609070205080204" pitchFamily="49" charset="-128"/>
                <a:ea typeface="MS Gothic" panose="020B0609070205080204" pitchFamily="49" charset="-128"/>
              </a:rPr>
              <a:t> </a:t>
            </a:r>
            <a:r>
              <a:rPr lang="en-US" altLang="ja-JP" sz="3600" dirty="0">
                <a:latin typeface="MS Gothic" panose="020B0609070205080204" pitchFamily="49" charset="-128"/>
                <a:ea typeface="MS Gothic" panose="020B0609070205080204" pitchFamily="49" charset="-128"/>
              </a:rPr>
              <a:t>LA4SE</a:t>
            </a:r>
            <a:endParaRPr kumimoji="1" lang="en-US" altLang="ja-JP" sz="3600" dirty="0">
              <a:latin typeface="MS Gothic" panose="020B0609070205080204" pitchFamily="49" charset="-128"/>
              <a:ea typeface="MS Gothic" panose="020B0609070205080204" pitchFamily="49" charset="-128"/>
            </a:endParaRPr>
          </a:p>
          <a:p>
            <a:r>
              <a:rPr lang="ja-JP" altLang="en-US" sz="3600">
                <a:latin typeface="MS Gothic" panose="020B0609070205080204" pitchFamily="49" charset="-128"/>
                <a:ea typeface="MS Gothic" panose="020B0609070205080204" pitchFamily="49" charset="-128"/>
              </a:rPr>
              <a:t>修士</a:t>
            </a:r>
            <a:r>
              <a:rPr lang="en-US" altLang="ja-JP" sz="3600" dirty="0">
                <a:latin typeface="MS Gothic" panose="020B0609070205080204" pitchFamily="49" charset="-128"/>
                <a:ea typeface="MS Gothic" panose="020B0609070205080204" pitchFamily="49" charset="-128"/>
              </a:rPr>
              <a:t>2</a:t>
            </a:r>
            <a:r>
              <a:rPr lang="ja-JP" altLang="en-US" sz="3600">
                <a:latin typeface="MS Gothic" panose="020B0609070205080204" pitchFamily="49" charset="-128"/>
                <a:ea typeface="MS Gothic" panose="020B0609070205080204" pitchFamily="49" charset="-128"/>
              </a:rPr>
              <a:t>年 松尾春紀</a:t>
            </a:r>
            <a:endParaRPr kumimoji="1" lang="ja-JP" altLang="en-US" sz="360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2660850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27214-A3EB-E448-918F-C5344523E94B}"/>
              </a:ext>
            </a:extLst>
          </p:cNvPr>
          <p:cNvSpPr>
            <a:spLocks noGrp="1"/>
          </p:cNvSpPr>
          <p:nvPr>
            <p:ph type="title"/>
          </p:nvPr>
        </p:nvSpPr>
        <p:spPr/>
        <p:txBody>
          <a:bodyPr/>
          <a:lstStyle/>
          <a:p>
            <a:r>
              <a:rPr lang="ja-JP" altLang="en-US" b="1">
                <a:solidFill>
                  <a:srgbClr val="FF0000"/>
                </a:solidFill>
                <a:latin typeface="MS Gothic" panose="020B0609070205080204" pitchFamily="49" charset="-128"/>
                <a:ea typeface="MS Gothic" panose="020B0609070205080204" pitchFamily="49" charset="-128"/>
              </a:rPr>
              <a:t>自動プログラム修正</a:t>
            </a:r>
            <a:r>
              <a:rPr lang="en-US" altLang="ja-JP" b="1" dirty="0">
                <a:solidFill>
                  <a:srgbClr val="FF0000"/>
                </a:solidFill>
                <a:latin typeface="MS Gothic" panose="020B0609070205080204" pitchFamily="49" charset="-128"/>
                <a:ea typeface="MS Gothic" panose="020B0609070205080204" pitchFamily="49" charset="-128"/>
              </a:rPr>
              <a:t>(APR :Automatic Program Repair)</a:t>
            </a:r>
            <a:endParaRPr kumimoji="1" lang="ja-JP" altLang="en-US" b="1">
              <a:solidFill>
                <a:srgbClr val="FF0000"/>
              </a:solidFill>
              <a:latin typeface="MS Gothic" panose="020B0609070205080204" pitchFamily="49" charset="-128"/>
              <a:ea typeface="MS Gothic" panose="020B0609070205080204" pitchFamily="49" charset="-128"/>
            </a:endParaRPr>
          </a:p>
        </p:txBody>
      </p:sp>
      <p:sp>
        <p:nvSpPr>
          <p:cNvPr id="3" name="コンテンツ プレースホルダー 2">
            <a:extLst>
              <a:ext uri="{FF2B5EF4-FFF2-40B4-BE49-F238E27FC236}">
                <a16:creationId xmlns:a16="http://schemas.microsoft.com/office/drawing/2014/main" id="{98BEF5B3-32FB-D548-B3D3-D89C5196FB4B}"/>
              </a:ext>
            </a:extLst>
          </p:cNvPr>
          <p:cNvSpPr>
            <a:spLocks noGrp="1"/>
          </p:cNvSpPr>
          <p:nvPr>
            <p:ph idx="1"/>
          </p:nvPr>
        </p:nvSpPr>
        <p:spPr>
          <a:xfrm>
            <a:off x="838200" y="1825625"/>
            <a:ext cx="10515600" cy="3625606"/>
          </a:xfrm>
        </p:spPr>
        <p:txBody>
          <a:bodyPr>
            <a:normAutofit fontScale="92500" lnSpcReduction="10000"/>
          </a:bodyPr>
          <a:lstStyle/>
          <a:p>
            <a:pPr marL="0" indent="0">
              <a:buNone/>
            </a:pPr>
            <a:r>
              <a:rPr lang="ja-JP" altLang="en-US" sz="3600" b="1">
                <a:latin typeface="MS Gothic" panose="020B0609070205080204" pitchFamily="49" charset="-128"/>
                <a:ea typeface="MS Gothic" panose="020B0609070205080204" pitchFamily="49" charset="-128"/>
              </a:rPr>
              <a:t>プログラム内のバグを</a:t>
            </a:r>
            <a:r>
              <a:rPr lang="ja-JP" altLang="en-US" sz="3600" b="1">
                <a:solidFill>
                  <a:srgbClr val="FF0000"/>
                </a:solidFill>
                <a:latin typeface="MS Gothic" panose="020B0609070205080204" pitchFamily="49" charset="-128"/>
                <a:ea typeface="MS Gothic" panose="020B0609070205080204" pitchFamily="49" charset="-128"/>
              </a:rPr>
              <a:t>人の手を用いず</a:t>
            </a:r>
            <a:r>
              <a:rPr lang="ja-JP" altLang="en-US" sz="3600" b="1">
                <a:latin typeface="MS Gothic" panose="020B0609070205080204" pitchFamily="49" charset="-128"/>
                <a:ea typeface="MS Gothic" panose="020B0609070205080204" pitchFamily="49" charset="-128"/>
              </a:rPr>
              <a:t>に自動で修正する技術</a:t>
            </a:r>
            <a:endParaRPr lang="en-US" altLang="ja-JP" sz="3600" b="1" dirty="0">
              <a:latin typeface="MS Gothic" panose="020B0609070205080204" pitchFamily="49" charset="-128"/>
              <a:ea typeface="MS Gothic" panose="020B0609070205080204" pitchFamily="49" charset="-128"/>
            </a:endParaRPr>
          </a:p>
          <a:p>
            <a:pPr marL="0" indent="0">
              <a:buNone/>
            </a:pPr>
            <a:endParaRPr lang="en-US" altLang="ja-JP" sz="3600" b="1" dirty="0">
              <a:latin typeface="MS Gothic" panose="020B0609070205080204" pitchFamily="49" charset="-128"/>
              <a:ea typeface="MS Gothic" panose="020B0609070205080204" pitchFamily="49" charset="-128"/>
            </a:endParaRPr>
          </a:p>
          <a:p>
            <a:pPr marL="0" indent="0">
              <a:buNone/>
            </a:pPr>
            <a:r>
              <a:rPr lang="ja-JP" altLang="en-US" sz="3600" b="1">
                <a:latin typeface="MS Gothic" panose="020B0609070205080204" pitchFamily="49" charset="-128"/>
                <a:ea typeface="MS Gothic" panose="020B0609070205080204" pitchFamily="49" charset="-128"/>
              </a:rPr>
              <a:t>・構文エラーを対象にしたもの</a:t>
            </a:r>
            <a:endParaRPr lang="en-US" altLang="ja-JP" sz="3600" b="1" dirty="0">
              <a:latin typeface="MS Gothic" panose="020B0609070205080204" pitchFamily="49" charset="-128"/>
              <a:ea typeface="MS Gothic" panose="020B0609070205080204" pitchFamily="49" charset="-128"/>
            </a:endParaRPr>
          </a:p>
          <a:p>
            <a:pPr marL="0" indent="0">
              <a:buNone/>
            </a:pPr>
            <a:r>
              <a:rPr lang="en-US" altLang="ja-JP" sz="3600" b="1" dirty="0">
                <a:latin typeface="MS Gothic" panose="020B0609070205080204" pitchFamily="49" charset="-128"/>
                <a:ea typeface="MS Gothic" panose="020B0609070205080204" pitchFamily="49" charset="-128"/>
              </a:rPr>
              <a:t>	</a:t>
            </a:r>
            <a:r>
              <a:rPr lang="en-US" altLang="ja-JP" sz="3600" b="1" dirty="0" err="1">
                <a:solidFill>
                  <a:srgbClr val="FF0000"/>
                </a:solidFill>
                <a:latin typeface="MS Gothic" panose="020B0609070205080204" pitchFamily="49" charset="-128"/>
                <a:ea typeface="MS Gothic" panose="020B0609070205080204" pitchFamily="49" charset="-128"/>
              </a:rPr>
              <a:t>DeepFix</a:t>
            </a:r>
            <a:r>
              <a:rPr lang="en-US" altLang="ja-JP" sz="3600" b="1" dirty="0">
                <a:solidFill>
                  <a:srgbClr val="FF0000"/>
                </a:solidFill>
                <a:latin typeface="MS Gothic" panose="020B0609070205080204" pitchFamily="49" charset="-128"/>
                <a:ea typeface="MS Gothic" panose="020B0609070205080204" pitchFamily="49" charset="-128"/>
              </a:rPr>
              <a:t>[1]</a:t>
            </a:r>
            <a:r>
              <a:rPr lang="ja-JP" altLang="en-US" sz="3600" b="1">
                <a:latin typeface="MS Gothic" panose="020B0609070205080204" pitchFamily="49" charset="-128"/>
                <a:ea typeface="MS Gothic" panose="020B0609070205080204" pitchFamily="49" charset="-128"/>
              </a:rPr>
              <a:t>等</a:t>
            </a:r>
            <a:endParaRPr lang="en-US" altLang="ja-JP" sz="3600" b="1" dirty="0">
              <a:latin typeface="MS Gothic" panose="020B0609070205080204" pitchFamily="49" charset="-128"/>
              <a:ea typeface="MS Gothic" panose="020B0609070205080204" pitchFamily="49" charset="-128"/>
            </a:endParaRPr>
          </a:p>
          <a:p>
            <a:pPr marL="0" indent="0">
              <a:buNone/>
            </a:pPr>
            <a:r>
              <a:rPr lang="ja-JP" altLang="en-US" sz="3600" b="1">
                <a:latin typeface="MS Gothic" panose="020B0609070205080204" pitchFamily="49" charset="-128"/>
                <a:ea typeface="MS Gothic" panose="020B0609070205080204" pitchFamily="49" charset="-128"/>
              </a:rPr>
              <a:t>・論理エラーを対象にしたもの</a:t>
            </a:r>
            <a:endParaRPr lang="en-US" altLang="ja-JP" sz="3600" b="1" dirty="0">
              <a:latin typeface="MS Gothic" panose="020B0609070205080204" pitchFamily="49" charset="-128"/>
              <a:ea typeface="MS Gothic" panose="020B0609070205080204" pitchFamily="49" charset="-128"/>
            </a:endParaRPr>
          </a:p>
          <a:p>
            <a:pPr marL="0" indent="0">
              <a:buNone/>
            </a:pPr>
            <a:r>
              <a:rPr lang="en-US" altLang="ja-JP" sz="3600" b="1" dirty="0">
                <a:latin typeface="MS Gothic" panose="020B0609070205080204" pitchFamily="49" charset="-128"/>
                <a:ea typeface="MS Gothic" panose="020B0609070205080204" pitchFamily="49" charset="-128"/>
              </a:rPr>
              <a:t>	</a:t>
            </a:r>
            <a:r>
              <a:rPr lang="en-US" altLang="ja-JP" sz="3600" b="1" dirty="0" err="1">
                <a:latin typeface="MS Gothic" panose="020B0609070205080204" pitchFamily="49" charset="-128"/>
                <a:ea typeface="MS Gothic" panose="020B0609070205080204" pitchFamily="49" charset="-128"/>
              </a:rPr>
              <a:t>GenProg</a:t>
            </a:r>
            <a:r>
              <a:rPr lang="en-US" altLang="ja-JP" sz="3600" b="1" dirty="0">
                <a:latin typeface="MS Gothic" panose="020B0609070205080204" pitchFamily="49" charset="-128"/>
                <a:ea typeface="MS Gothic" panose="020B0609070205080204" pitchFamily="49" charset="-128"/>
              </a:rPr>
              <a:t>[2], Prophet[3]</a:t>
            </a:r>
            <a:r>
              <a:rPr lang="ja-JP" altLang="en-US" sz="3600" b="1">
                <a:latin typeface="MS Gothic" panose="020B0609070205080204" pitchFamily="49" charset="-128"/>
                <a:ea typeface="MS Gothic" panose="020B0609070205080204" pitchFamily="49" charset="-128"/>
              </a:rPr>
              <a:t>等</a:t>
            </a:r>
            <a:endParaRPr lang="en-US" altLang="ja-JP" sz="3600" b="1" dirty="0">
              <a:latin typeface="MS Gothic" panose="020B0609070205080204" pitchFamily="49" charset="-128"/>
              <a:ea typeface="MS Gothic" panose="020B0609070205080204" pitchFamily="49" charset="-128"/>
            </a:endParaRPr>
          </a:p>
        </p:txBody>
      </p:sp>
      <p:sp>
        <p:nvSpPr>
          <p:cNvPr id="5" name="スライド番号プレースホルダー 4">
            <a:extLst>
              <a:ext uri="{FF2B5EF4-FFF2-40B4-BE49-F238E27FC236}">
                <a16:creationId xmlns:a16="http://schemas.microsoft.com/office/drawing/2014/main" id="{8112806B-2C60-D343-BA5F-671274D5C41D}"/>
              </a:ext>
            </a:extLst>
          </p:cNvPr>
          <p:cNvSpPr>
            <a:spLocks noGrp="1"/>
          </p:cNvSpPr>
          <p:nvPr>
            <p:ph type="sldNum" sz="quarter" idx="12"/>
          </p:nvPr>
        </p:nvSpPr>
        <p:spPr/>
        <p:txBody>
          <a:bodyPr/>
          <a:lstStyle/>
          <a:p>
            <a:fld id="{FA1022E7-004F-2642-A386-7968DDBA477C}" type="slidenum">
              <a:rPr kumimoji="1" lang="ja-JP" altLang="en-US" sz="2000" b="1" smtClean="0"/>
              <a:t>1</a:t>
            </a:fld>
            <a:endParaRPr kumimoji="1" lang="ja-JP" altLang="en-US" sz="2000" b="1"/>
          </a:p>
        </p:txBody>
      </p:sp>
      <p:sp>
        <p:nvSpPr>
          <p:cNvPr id="4" name="テキスト ボックス 3">
            <a:extLst>
              <a:ext uri="{FF2B5EF4-FFF2-40B4-BE49-F238E27FC236}">
                <a16:creationId xmlns:a16="http://schemas.microsoft.com/office/drawing/2014/main" id="{63E29F0B-CF9C-F043-A663-B931B4582DD8}"/>
              </a:ext>
            </a:extLst>
          </p:cNvPr>
          <p:cNvSpPr txBox="1"/>
          <p:nvPr/>
        </p:nvSpPr>
        <p:spPr>
          <a:xfrm>
            <a:off x="422030" y="5257459"/>
            <a:ext cx="10812575" cy="646331"/>
          </a:xfrm>
          <a:prstGeom prst="rect">
            <a:avLst/>
          </a:prstGeom>
          <a:noFill/>
        </p:spPr>
        <p:txBody>
          <a:bodyPr wrap="none" rtlCol="0">
            <a:spAutoFit/>
          </a:bodyPr>
          <a:lstStyle/>
          <a:p>
            <a:r>
              <a:rPr kumimoji="1" lang="en-US" altLang="ja-JP" dirty="0"/>
              <a:t>[1]</a:t>
            </a:r>
            <a:r>
              <a:rPr lang="en-US" altLang="ja-JP" dirty="0"/>
              <a:t> Rahul Gupta and Soham Pal and Aditya </a:t>
            </a:r>
            <a:r>
              <a:rPr lang="en-US" altLang="ja-JP" dirty="0" err="1"/>
              <a:t>Kanade</a:t>
            </a:r>
            <a:r>
              <a:rPr lang="en-US" altLang="ja-JP" dirty="0"/>
              <a:t> and Shirish </a:t>
            </a:r>
            <a:r>
              <a:rPr lang="en-US" altLang="ja-JP" dirty="0" err="1"/>
              <a:t>Shevade</a:t>
            </a:r>
            <a:r>
              <a:rPr lang="en-US" altLang="ja-JP" dirty="0"/>
              <a:t>,” </a:t>
            </a:r>
            <a:r>
              <a:rPr lang="en-US" altLang="ja-JP" dirty="0" err="1"/>
              <a:t>DeepFix</a:t>
            </a:r>
            <a:r>
              <a:rPr lang="en-US" altLang="ja-JP" dirty="0"/>
              <a:t>: Fixing Common </a:t>
            </a:r>
          </a:p>
          <a:p>
            <a:r>
              <a:rPr lang="en-US" altLang="ja-JP" dirty="0"/>
              <a:t>C Language Errors by Deep Learning”, </a:t>
            </a:r>
            <a:r>
              <a:rPr lang="en-US" altLang="ja-JP" i="1" dirty="0"/>
              <a:t>AAAI Conference on Artificial Intelligence</a:t>
            </a:r>
            <a:r>
              <a:rPr lang="en-US" altLang="ja-JP" dirty="0"/>
              <a:t>,2017</a:t>
            </a:r>
            <a:endParaRPr kumimoji="1" lang="ja-JP" altLang="en-US"/>
          </a:p>
        </p:txBody>
      </p:sp>
      <p:sp>
        <p:nvSpPr>
          <p:cNvPr id="6" name="テキスト ボックス 5">
            <a:extLst>
              <a:ext uri="{FF2B5EF4-FFF2-40B4-BE49-F238E27FC236}">
                <a16:creationId xmlns:a16="http://schemas.microsoft.com/office/drawing/2014/main" id="{6DC08F95-FD05-114A-8176-06653C597BF6}"/>
              </a:ext>
            </a:extLst>
          </p:cNvPr>
          <p:cNvSpPr txBox="1"/>
          <p:nvPr/>
        </p:nvSpPr>
        <p:spPr>
          <a:xfrm>
            <a:off x="422030" y="5846544"/>
            <a:ext cx="11476219" cy="646331"/>
          </a:xfrm>
          <a:prstGeom prst="rect">
            <a:avLst/>
          </a:prstGeom>
          <a:noFill/>
        </p:spPr>
        <p:txBody>
          <a:bodyPr wrap="none" rtlCol="0">
            <a:spAutoFit/>
          </a:bodyPr>
          <a:lstStyle/>
          <a:p>
            <a:r>
              <a:rPr kumimoji="1" lang="en-US" altLang="ja-JP" dirty="0"/>
              <a:t>[2]</a:t>
            </a:r>
            <a:r>
              <a:rPr lang="en-US" altLang="ja-JP" dirty="0"/>
              <a:t> C. Le </a:t>
            </a:r>
            <a:r>
              <a:rPr lang="en-US" altLang="ja-JP" dirty="0" err="1"/>
              <a:t>Goues</a:t>
            </a:r>
            <a:r>
              <a:rPr lang="en-US" altLang="ja-JP" dirty="0"/>
              <a:t> and T. Nguyen and S. Forrest and W. Weimer,” </a:t>
            </a:r>
            <a:r>
              <a:rPr lang="en-US" altLang="ja-JP" dirty="0" err="1"/>
              <a:t>GenProg</a:t>
            </a:r>
            <a:r>
              <a:rPr lang="en-US" altLang="ja-JP" dirty="0"/>
              <a:t>: A Generic Method for Automatic </a:t>
            </a:r>
          </a:p>
          <a:p>
            <a:r>
              <a:rPr lang="en-US" altLang="ja-JP" dirty="0"/>
              <a:t>Software Repair”, </a:t>
            </a:r>
            <a:r>
              <a:rPr lang="en-US" altLang="ja-JP" i="1" dirty="0"/>
              <a:t>IEEE Transactions on Software Engineering,</a:t>
            </a:r>
            <a:r>
              <a:rPr lang="en-US" altLang="ja-JP" dirty="0"/>
              <a:t>2012</a:t>
            </a:r>
            <a:endParaRPr kumimoji="1" lang="ja-JP" altLang="en-US"/>
          </a:p>
        </p:txBody>
      </p:sp>
      <p:sp>
        <p:nvSpPr>
          <p:cNvPr id="7" name="テキスト ボックス 6">
            <a:extLst>
              <a:ext uri="{FF2B5EF4-FFF2-40B4-BE49-F238E27FC236}">
                <a16:creationId xmlns:a16="http://schemas.microsoft.com/office/drawing/2014/main" id="{75047475-841D-2445-9980-E36841E09CC2}"/>
              </a:ext>
            </a:extLst>
          </p:cNvPr>
          <p:cNvSpPr txBox="1"/>
          <p:nvPr/>
        </p:nvSpPr>
        <p:spPr>
          <a:xfrm>
            <a:off x="422030" y="6403215"/>
            <a:ext cx="10128094" cy="369332"/>
          </a:xfrm>
          <a:prstGeom prst="rect">
            <a:avLst/>
          </a:prstGeom>
          <a:noFill/>
        </p:spPr>
        <p:txBody>
          <a:bodyPr wrap="none" rtlCol="0">
            <a:spAutoFit/>
          </a:bodyPr>
          <a:lstStyle/>
          <a:p>
            <a:r>
              <a:rPr kumimoji="1" lang="en-US" altLang="ja-JP" dirty="0"/>
              <a:t>[3]</a:t>
            </a:r>
            <a:r>
              <a:rPr lang="en-US" altLang="ja-JP" dirty="0"/>
              <a:t> Long, Fan and </a:t>
            </a:r>
            <a:r>
              <a:rPr lang="en-US" altLang="ja-JP" dirty="0" err="1"/>
              <a:t>Rinard</a:t>
            </a:r>
            <a:r>
              <a:rPr lang="en-US" altLang="ja-JP" dirty="0"/>
              <a:t>, Martin,” Automatic patch generation by learning correct code”,2016</a:t>
            </a:r>
            <a:endParaRPr kumimoji="1" lang="ja-JP" altLang="en-US"/>
          </a:p>
        </p:txBody>
      </p:sp>
    </p:spTree>
    <p:extLst>
      <p:ext uri="{BB962C8B-B14F-4D97-AF65-F5344CB8AC3E}">
        <p14:creationId xmlns:p14="http://schemas.microsoft.com/office/powerpoint/2010/main" val="1149484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27214-A3EB-E448-918F-C5344523E94B}"/>
              </a:ext>
            </a:extLst>
          </p:cNvPr>
          <p:cNvSpPr>
            <a:spLocks noGrp="1"/>
          </p:cNvSpPr>
          <p:nvPr>
            <p:ph type="title"/>
          </p:nvPr>
        </p:nvSpPr>
        <p:spPr/>
        <p:txBody>
          <a:bodyPr/>
          <a:lstStyle/>
          <a:p>
            <a:r>
              <a:rPr lang="ja-JP" altLang="en-US" b="1">
                <a:solidFill>
                  <a:srgbClr val="FF0000"/>
                </a:solidFill>
                <a:latin typeface="MS Gothic" panose="020B0609070205080204" pitchFamily="49" charset="-128"/>
                <a:ea typeface="MS Gothic" panose="020B0609070205080204" pitchFamily="49" charset="-128"/>
              </a:rPr>
              <a:t>自動プログラム修正のイメージ</a:t>
            </a:r>
            <a:r>
              <a:rPr lang="en-US" altLang="ja-JP" b="1" dirty="0">
                <a:solidFill>
                  <a:srgbClr val="FF0000"/>
                </a:solidFill>
                <a:latin typeface="MS Gothic" panose="020B0609070205080204" pitchFamily="49" charset="-128"/>
                <a:ea typeface="MS Gothic" panose="020B0609070205080204" pitchFamily="49" charset="-128"/>
              </a:rPr>
              <a:t>(</a:t>
            </a:r>
            <a:r>
              <a:rPr lang="en-US" altLang="ja-JP" b="1" dirty="0" err="1">
                <a:solidFill>
                  <a:srgbClr val="FF0000"/>
                </a:solidFill>
                <a:latin typeface="MS Gothic" panose="020B0609070205080204" pitchFamily="49" charset="-128"/>
                <a:ea typeface="MS Gothic" panose="020B0609070205080204" pitchFamily="49" charset="-128"/>
              </a:rPr>
              <a:t>DeepFix</a:t>
            </a:r>
            <a:r>
              <a:rPr lang="en-US" altLang="ja-JP" b="1" dirty="0">
                <a:solidFill>
                  <a:srgbClr val="FF0000"/>
                </a:solidFill>
                <a:latin typeface="MS Gothic" panose="020B0609070205080204" pitchFamily="49" charset="-128"/>
                <a:ea typeface="MS Gothic" panose="020B0609070205080204" pitchFamily="49" charset="-128"/>
              </a:rPr>
              <a:t>)</a:t>
            </a:r>
            <a:endParaRPr kumimoji="1" lang="ja-JP" altLang="en-US" b="1">
              <a:solidFill>
                <a:srgbClr val="FF0000"/>
              </a:solidFill>
              <a:latin typeface="MS Gothic" panose="020B0609070205080204" pitchFamily="49" charset="-128"/>
              <a:ea typeface="MS Gothic" panose="020B0609070205080204" pitchFamily="49" charset="-128"/>
            </a:endParaRPr>
          </a:p>
        </p:txBody>
      </p:sp>
      <p:grpSp>
        <p:nvGrpSpPr>
          <p:cNvPr id="13" name="グループ化 12">
            <a:extLst>
              <a:ext uri="{FF2B5EF4-FFF2-40B4-BE49-F238E27FC236}">
                <a16:creationId xmlns:a16="http://schemas.microsoft.com/office/drawing/2014/main" id="{DDEEC3B1-EA9B-E84B-A581-157778517D3E}"/>
              </a:ext>
            </a:extLst>
          </p:cNvPr>
          <p:cNvGrpSpPr/>
          <p:nvPr/>
        </p:nvGrpSpPr>
        <p:grpSpPr>
          <a:xfrm>
            <a:off x="838200" y="2733675"/>
            <a:ext cx="2133599" cy="1962150"/>
            <a:chOff x="681038" y="2557463"/>
            <a:chExt cx="2133599" cy="1962150"/>
          </a:xfrm>
        </p:grpSpPr>
        <p:pic>
          <p:nvPicPr>
            <p:cNvPr id="5" name="グラフィックス 4" descr="ブログ 枠線">
              <a:extLst>
                <a:ext uri="{FF2B5EF4-FFF2-40B4-BE49-F238E27FC236}">
                  <a16:creationId xmlns:a16="http://schemas.microsoft.com/office/drawing/2014/main" id="{D5A53558-734D-464A-887D-AE17DE63EB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2487" y="2557463"/>
              <a:ext cx="1962150" cy="1962150"/>
            </a:xfrm>
            <a:prstGeom prst="rect">
              <a:avLst/>
            </a:prstGeom>
          </p:spPr>
        </p:pic>
        <p:pic>
          <p:nvPicPr>
            <p:cNvPr id="10" name="グラフィックス 9" descr="甲虫 単色塗りつぶし">
              <a:extLst>
                <a:ext uri="{FF2B5EF4-FFF2-40B4-BE49-F238E27FC236}">
                  <a16:creationId xmlns:a16="http://schemas.microsoft.com/office/drawing/2014/main" id="{07F3B6BF-1DE7-024F-AD57-02B673F1BD6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1038" y="2733675"/>
              <a:ext cx="914400" cy="914400"/>
            </a:xfrm>
            <a:prstGeom prst="rect">
              <a:avLst/>
            </a:prstGeom>
          </p:spPr>
        </p:pic>
      </p:grpSp>
      <p:pic>
        <p:nvPicPr>
          <p:cNvPr id="12" name="グラフィックス 11" descr="パズル 単色塗りつぶし">
            <a:extLst>
              <a:ext uri="{FF2B5EF4-FFF2-40B4-BE49-F238E27FC236}">
                <a16:creationId xmlns:a16="http://schemas.microsoft.com/office/drawing/2014/main" id="{CD178DC1-309E-344D-B962-B64ACABBC68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20139" y="3257550"/>
            <a:ext cx="914400" cy="914400"/>
          </a:xfrm>
          <a:prstGeom prst="rect">
            <a:avLst/>
          </a:prstGeom>
        </p:spPr>
      </p:pic>
      <p:sp>
        <p:nvSpPr>
          <p:cNvPr id="16" name="右矢印 15">
            <a:extLst>
              <a:ext uri="{FF2B5EF4-FFF2-40B4-BE49-F238E27FC236}">
                <a16:creationId xmlns:a16="http://schemas.microsoft.com/office/drawing/2014/main" id="{00983547-B6DA-FF4C-AA84-A2498CE44AA8}"/>
              </a:ext>
            </a:extLst>
          </p:cNvPr>
          <p:cNvSpPr/>
          <p:nvPr/>
        </p:nvSpPr>
        <p:spPr>
          <a:xfrm>
            <a:off x="3290887" y="3406378"/>
            <a:ext cx="1343025" cy="61674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右矢印 16">
            <a:extLst>
              <a:ext uri="{FF2B5EF4-FFF2-40B4-BE49-F238E27FC236}">
                <a16:creationId xmlns:a16="http://schemas.microsoft.com/office/drawing/2014/main" id="{9A5BBBA6-0F6D-404E-816F-23D15DD82D44}"/>
              </a:ext>
            </a:extLst>
          </p:cNvPr>
          <p:cNvSpPr/>
          <p:nvPr/>
        </p:nvSpPr>
        <p:spPr>
          <a:xfrm>
            <a:off x="7058026" y="3429000"/>
            <a:ext cx="1343025" cy="61674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75E4775B-171B-E44C-B4B0-45B664CDDA30}"/>
              </a:ext>
            </a:extLst>
          </p:cNvPr>
          <p:cNvSpPr txBox="1"/>
          <p:nvPr/>
        </p:nvSpPr>
        <p:spPr>
          <a:xfrm>
            <a:off x="282564" y="5110161"/>
            <a:ext cx="3416320" cy="646331"/>
          </a:xfrm>
          <a:prstGeom prst="rect">
            <a:avLst/>
          </a:prstGeom>
          <a:noFill/>
        </p:spPr>
        <p:txBody>
          <a:bodyPr wrap="none" rtlCol="0">
            <a:spAutoFit/>
          </a:bodyPr>
          <a:lstStyle/>
          <a:p>
            <a:r>
              <a:rPr lang="ja-JP" altLang="en-US" sz="3600" b="1">
                <a:latin typeface="MS Gothic" panose="020B0609070205080204" pitchFamily="49" charset="-128"/>
                <a:ea typeface="MS Gothic" panose="020B0609070205080204" pitchFamily="49" charset="-128"/>
              </a:rPr>
              <a:t>バグ</a:t>
            </a:r>
            <a:r>
              <a:rPr kumimoji="1" lang="ja-JP" altLang="en-US" sz="3600" b="1">
                <a:latin typeface="MS Gothic" panose="020B0609070205080204" pitchFamily="49" charset="-128"/>
                <a:ea typeface="MS Gothic" panose="020B0609070205080204" pitchFamily="49" charset="-128"/>
              </a:rPr>
              <a:t>ありコード</a:t>
            </a:r>
          </a:p>
        </p:txBody>
      </p:sp>
      <p:sp>
        <p:nvSpPr>
          <p:cNvPr id="19" name="テキスト ボックス 18">
            <a:extLst>
              <a:ext uri="{FF2B5EF4-FFF2-40B4-BE49-F238E27FC236}">
                <a16:creationId xmlns:a16="http://schemas.microsoft.com/office/drawing/2014/main" id="{F7E625E5-4FA4-834F-AA89-76584DE581B2}"/>
              </a:ext>
            </a:extLst>
          </p:cNvPr>
          <p:cNvSpPr txBox="1"/>
          <p:nvPr/>
        </p:nvSpPr>
        <p:spPr>
          <a:xfrm>
            <a:off x="7930844" y="5110161"/>
            <a:ext cx="2492990" cy="646331"/>
          </a:xfrm>
          <a:prstGeom prst="rect">
            <a:avLst/>
          </a:prstGeom>
          <a:noFill/>
        </p:spPr>
        <p:txBody>
          <a:bodyPr wrap="none" rtlCol="0">
            <a:spAutoFit/>
          </a:bodyPr>
          <a:lstStyle/>
          <a:p>
            <a:r>
              <a:rPr kumimoji="1" lang="ja-JP" altLang="en-US" sz="3600" b="1">
                <a:latin typeface="MS Gothic" panose="020B0609070205080204" pitchFamily="49" charset="-128"/>
                <a:ea typeface="MS Gothic" panose="020B0609070205080204" pitchFamily="49" charset="-128"/>
              </a:rPr>
              <a:t>修正パッチ</a:t>
            </a:r>
          </a:p>
        </p:txBody>
      </p:sp>
      <p:sp>
        <p:nvSpPr>
          <p:cNvPr id="21" name="テキスト ボックス 20">
            <a:extLst>
              <a:ext uri="{FF2B5EF4-FFF2-40B4-BE49-F238E27FC236}">
                <a16:creationId xmlns:a16="http://schemas.microsoft.com/office/drawing/2014/main" id="{DFD95E77-B7DC-A948-B8A2-E04AD505357B}"/>
              </a:ext>
            </a:extLst>
          </p:cNvPr>
          <p:cNvSpPr txBox="1"/>
          <p:nvPr/>
        </p:nvSpPr>
        <p:spPr>
          <a:xfrm>
            <a:off x="4890790" y="4833163"/>
            <a:ext cx="1574470" cy="1200329"/>
          </a:xfrm>
          <a:prstGeom prst="rect">
            <a:avLst/>
          </a:prstGeom>
          <a:noFill/>
        </p:spPr>
        <p:txBody>
          <a:bodyPr wrap="none" rtlCol="0">
            <a:spAutoFit/>
          </a:bodyPr>
          <a:lstStyle/>
          <a:p>
            <a:r>
              <a:rPr lang="ja-JP" altLang="en-US" sz="3600" b="1">
                <a:latin typeface="MS Gothic" panose="020B0609070205080204" pitchFamily="49" charset="-128"/>
                <a:ea typeface="MS Gothic" panose="020B0609070205080204" pitchFamily="49" charset="-128"/>
              </a:rPr>
              <a:t>修正</a:t>
            </a:r>
            <a:endParaRPr lang="en-US" altLang="ja-JP" sz="3600" b="1" dirty="0">
              <a:latin typeface="MS Gothic" panose="020B0609070205080204" pitchFamily="49" charset="-128"/>
              <a:ea typeface="MS Gothic" panose="020B0609070205080204" pitchFamily="49" charset="-128"/>
            </a:endParaRPr>
          </a:p>
          <a:p>
            <a:r>
              <a:rPr lang="ja-JP" altLang="en-US" sz="3600" b="1">
                <a:latin typeface="MS Gothic" panose="020B0609070205080204" pitchFamily="49" charset="-128"/>
                <a:ea typeface="MS Gothic" panose="020B0609070205080204" pitchFamily="49" charset="-128"/>
              </a:rPr>
              <a:t>モデル</a:t>
            </a:r>
            <a:endParaRPr kumimoji="1" lang="ja-JP" altLang="en-US" sz="3600" b="1">
              <a:latin typeface="MS Gothic" panose="020B0609070205080204" pitchFamily="49" charset="-128"/>
              <a:ea typeface="MS Gothic" panose="020B0609070205080204" pitchFamily="49" charset="-128"/>
            </a:endParaRPr>
          </a:p>
        </p:txBody>
      </p:sp>
      <p:sp>
        <p:nvSpPr>
          <p:cNvPr id="22" name="四角形吹き出し 21">
            <a:extLst>
              <a:ext uri="{FF2B5EF4-FFF2-40B4-BE49-F238E27FC236}">
                <a16:creationId xmlns:a16="http://schemas.microsoft.com/office/drawing/2014/main" id="{F18D7A06-87A7-CD4B-9DEF-18C90B379306}"/>
              </a:ext>
            </a:extLst>
          </p:cNvPr>
          <p:cNvSpPr/>
          <p:nvPr/>
        </p:nvSpPr>
        <p:spPr>
          <a:xfrm>
            <a:off x="8720139" y="1390651"/>
            <a:ext cx="3324224" cy="1538287"/>
          </a:xfrm>
          <a:prstGeom prst="wedgeRectCallout">
            <a:avLst>
              <a:gd name="adj1" fmla="val -28602"/>
              <a:gd name="adj2" fmla="val 66216"/>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3200" b="1" dirty="0">
                <a:latin typeface="MS Gothic" panose="020B0609070205080204" pitchFamily="49" charset="-128"/>
                <a:ea typeface="MS Gothic" panose="020B0609070205080204" pitchFamily="49" charset="-128"/>
              </a:rPr>
              <a:t>2</a:t>
            </a:r>
            <a:r>
              <a:rPr kumimoji="1" lang="ja-JP" altLang="en-US" sz="3200" b="1">
                <a:latin typeface="MS Gothic" panose="020B0609070205080204" pitchFamily="49" charset="-128"/>
                <a:ea typeface="MS Gothic" panose="020B0609070205080204" pitchFamily="49" charset="-128"/>
              </a:rPr>
              <a:t>行目は</a:t>
            </a:r>
            <a:endParaRPr kumimoji="1" lang="en-US" altLang="ja-JP" sz="3200" b="1" dirty="0">
              <a:latin typeface="MS Gothic" panose="020B0609070205080204" pitchFamily="49" charset="-128"/>
              <a:ea typeface="MS Gothic" panose="020B0609070205080204" pitchFamily="49" charset="-128"/>
            </a:endParaRPr>
          </a:p>
          <a:p>
            <a:pPr algn="ctr"/>
            <a:r>
              <a:rPr lang="en-US" altLang="ja-JP" sz="3200" b="1" dirty="0">
                <a:latin typeface="MS Gothic" panose="020B0609070205080204" pitchFamily="49" charset="-128"/>
                <a:ea typeface="MS Gothic" panose="020B0609070205080204" pitchFamily="49" charset="-128"/>
              </a:rPr>
              <a:t>“int a;”</a:t>
            </a:r>
            <a:r>
              <a:rPr lang="ja-JP" altLang="en-US" sz="3200" b="1">
                <a:latin typeface="MS Gothic" panose="020B0609070205080204" pitchFamily="49" charset="-128"/>
                <a:ea typeface="MS Gothic" panose="020B0609070205080204" pitchFamily="49" charset="-128"/>
              </a:rPr>
              <a:t>だよ</a:t>
            </a:r>
            <a:r>
              <a:rPr lang="en-US" altLang="ja-JP" sz="3200" b="1" dirty="0">
                <a:latin typeface="MS Gothic" panose="020B0609070205080204" pitchFamily="49" charset="-128"/>
                <a:ea typeface="MS Gothic" panose="020B0609070205080204" pitchFamily="49" charset="-128"/>
              </a:rPr>
              <a:t>!</a:t>
            </a:r>
          </a:p>
        </p:txBody>
      </p:sp>
      <p:pic>
        <p:nvPicPr>
          <p:cNvPr id="27" name="グラフィックス 26" descr="人工知能 単色塗りつぶし">
            <a:extLst>
              <a:ext uri="{FF2B5EF4-FFF2-40B4-BE49-F238E27FC236}">
                <a16:creationId xmlns:a16="http://schemas.microsoft.com/office/drawing/2014/main" id="{189B014F-1CDB-8F40-8E09-8DEF41B0112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61825" y="2866917"/>
            <a:ext cx="1695665" cy="1695665"/>
          </a:xfrm>
          <a:prstGeom prst="rect">
            <a:avLst/>
          </a:prstGeom>
        </p:spPr>
      </p:pic>
      <p:sp>
        <p:nvSpPr>
          <p:cNvPr id="4" name="スライド番号プレースホルダー 3">
            <a:extLst>
              <a:ext uri="{FF2B5EF4-FFF2-40B4-BE49-F238E27FC236}">
                <a16:creationId xmlns:a16="http://schemas.microsoft.com/office/drawing/2014/main" id="{BD498969-8C22-9A4D-9129-855E59B85018}"/>
              </a:ext>
            </a:extLst>
          </p:cNvPr>
          <p:cNvSpPr>
            <a:spLocks noGrp="1"/>
          </p:cNvSpPr>
          <p:nvPr>
            <p:ph type="sldNum" sz="quarter" idx="12"/>
          </p:nvPr>
        </p:nvSpPr>
        <p:spPr/>
        <p:txBody>
          <a:bodyPr/>
          <a:lstStyle/>
          <a:p>
            <a:fld id="{FA1022E7-004F-2642-A386-7968DDBA477C}" type="slidenum">
              <a:rPr kumimoji="1" lang="ja-JP" altLang="en-US" sz="2000" b="1" smtClean="0"/>
              <a:t>2</a:t>
            </a:fld>
            <a:endParaRPr kumimoji="1" lang="ja-JP" altLang="en-US" sz="2000" b="1"/>
          </a:p>
        </p:txBody>
      </p:sp>
    </p:spTree>
    <p:extLst>
      <p:ext uri="{BB962C8B-B14F-4D97-AF65-F5344CB8AC3E}">
        <p14:creationId xmlns:p14="http://schemas.microsoft.com/office/powerpoint/2010/main" val="1947649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27214-A3EB-E448-918F-C5344523E94B}"/>
              </a:ext>
            </a:extLst>
          </p:cNvPr>
          <p:cNvSpPr>
            <a:spLocks noGrp="1"/>
          </p:cNvSpPr>
          <p:nvPr>
            <p:ph type="title"/>
          </p:nvPr>
        </p:nvSpPr>
        <p:spPr/>
        <p:txBody>
          <a:bodyPr/>
          <a:lstStyle/>
          <a:p>
            <a:r>
              <a:rPr lang="en-US" altLang="ja-JP" b="1" dirty="0">
                <a:solidFill>
                  <a:srgbClr val="FF0000"/>
                </a:solidFill>
                <a:latin typeface="MS Gothic" panose="020B0609070205080204" pitchFamily="49" charset="-128"/>
                <a:ea typeface="MS Gothic" panose="020B0609070205080204" pitchFamily="49" charset="-128"/>
              </a:rPr>
              <a:t>APR×</a:t>
            </a:r>
            <a:r>
              <a:rPr lang="ja-JP" altLang="en-US" b="1">
                <a:solidFill>
                  <a:srgbClr val="FF0000"/>
                </a:solidFill>
                <a:latin typeface="MS Gothic" panose="020B0609070205080204" pitchFamily="49" charset="-128"/>
                <a:ea typeface="MS Gothic" panose="020B0609070205080204" pitchFamily="49" charset="-128"/>
              </a:rPr>
              <a:t>プログラミング教育</a:t>
            </a:r>
            <a:endParaRPr kumimoji="1" lang="ja-JP" altLang="en-US" b="1">
              <a:solidFill>
                <a:srgbClr val="FF0000"/>
              </a:solidFill>
              <a:latin typeface="MS Gothic" panose="020B0609070205080204" pitchFamily="49" charset="-128"/>
              <a:ea typeface="MS Gothic" panose="020B0609070205080204" pitchFamily="49" charset="-128"/>
            </a:endParaRPr>
          </a:p>
        </p:txBody>
      </p:sp>
      <p:sp>
        <p:nvSpPr>
          <p:cNvPr id="3" name="コンテンツ プレースホルダー 2">
            <a:extLst>
              <a:ext uri="{FF2B5EF4-FFF2-40B4-BE49-F238E27FC236}">
                <a16:creationId xmlns:a16="http://schemas.microsoft.com/office/drawing/2014/main" id="{98BEF5B3-32FB-D548-B3D3-D89C5196FB4B}"/>
              </a:ext>
            </a:extLst>
          </p:cNvPr>
          <p:cNvSpPr>
            <a:spLocks noGrp="1"/>
          </p:cNvSpPr>
          <p:nvPr>
            <p:ph idx="1"/>
          </p:nvPr>
        </p:nvSpPr>
        <p:spPr>
          <a:xfrm>
            <a:off x="838200" y="1690688"/>
            <a:ext cx="10515600" cy="4351338"/>
          </a:xfrm>
        </p:spPr>
        <p:txBody>
          <a:bodyPr>
            <a:normAutofit/>
          </a:bodyPr>
          <a:lstStyle/>
          <a:p>
            <a:pPr marL="0" indent="0">
              <a:buNone/>
            </a:pPr>
            <a:r>
              <a:rPr lang="ja-JP" altLang="en-US" sz="3200" b="1">
                <a:solidFill>
                  <a:srgbClr val="FF0000"/>
                </a:solidFill>
                <a:latin typeface="MS Gothic" panose="020B0609070205080204" pitchFamily="49" charset="-128"/>
                <a:ea typeface="MS Gothic" panose="020B0609070205080204" pitchFamily="49" charset="-128"/>
              </a:rPr>
              <a:t>プログラム初学者</a:t>
            </a:r>
            <a:r>
              <a:rPr lang="ja-JP" altLang="en-US" sz="3200" b="1">
                <a:latin typeface="MS Gothic" panose="020B0609070205080204" pitchFamily="49" charset="-128"/>
                <a:ea typeface="MS Gothic" panose="020B0609070205080204" pitchFamily="49" charset="-128"/>
              </a:rPr>
              <a:t>がエラーメッセージやテスト結果から，バグを修正するのは大変</a:t>
            </a:r>
            <a:endParaRPr lang="en-US" altLang="ja-JP" sz="3200" b="1" dirty="0">
              <a:latin typeface="MS Gothic" panose="020B0609070205080204" pitchFamily="49" charset="-128"/>
              <a:ea typeface="MS Gothic" panose="020B0609070205080204" pitchFamily="49" charset="-128"/>
            </a:endParaRPr>
          </a:p>
          <a:p>
            <a:pPr marL="0" indent="0">
              <a:buNone/>
            </a:pPr>
            <a:endParaRPr lang="en-US" altLang="ja-JP" sz="3200" b="1" dirty="0">
              <a:latin typeface="MS Gothic" panose="020B0609070205080204" pitchFamily="49" charset="-128"/>
              <a:ea typeface="MS Gothic" panose="020B0609070205080204" pitchFamily="49" charset="-128"/>
            </a:endParaRPr>
          </a:p>
          <a:p>
            <a:pPr marL="0" indent="0">
              <a:buNone/>
            </a:pPr>
            <a:r>
              <a:rPr lang="ja-JP" altLang="en-US" sz="3200" b="1">
                <a:solidFill>
                  <a:srgbClr val="FF0000"/>
                </a:solidFill>
                <a:latin typeface="MS Gothic" panose="020B0609070205080204" pitchFamily="49" charset="-128"/>
                <a:ea typeface="MS Gothic" panose="020B0609070205080204" pitchFamily="49" charset="-128"/>
              </a:rPr>
              <a:t>プログラミング教育の指導者</a:t>
            </a:r>
            <a:r>
              <a:rPr lang="ja-JP" altLang="en-US" sz="3200" b="1">
                <a:latin typeface="MS Gothic" panose="020B0609070205080204" pitchFamily="49" charset="-128"/>
                <a:ea typeface="MS Gothic" panose="020B0609070205080204" pitchFamily="49" charset="-128"/>
              </a:rPr>
              <a:t>が全ての学生に十分なフィードバックを与えるのは大変</a:t>
            </a:r>
            <a:endParaRPr lang="en-US" altLang="ja-JP" sz="3200" b="1" dirty="0">
              <a:latin typeface="MS Gothic" panose="020B0609070205080204" pitchFamily="49" charset="-128"/>
              <a:ea typeface="MS Gothic" panose="020B0609070205080204" pitchFamily="49" charset="-128"/>
            </a:endParaRPr>
          </a:p>
          <a:p>
            <a:pPr marL="0" indent="0">
              <a:buNone/>
            </a:pPr>
            <a:endParaRPr lang="en-US" altLang="ja-JP" sz="3200" b="1" dirty="0">
              <a:latin typeface="MS Gothic" panose="020B0609070205080204" pitchFamily="49" charset="-128"/>
              <a:ea typeface="MS Gothic" panose="020B0609070205080204" pitchFamily="49" charset="-128"/>
            </a:endParaRPr>
          </a:p>
          <a:p>
            <a:pPr marL="0" indent="0">
              <a:buNone/>
            </a:pPr>
            <a:endParaRPr lang="en-US" altLang="ja-JP" sz="3200" b="1" dirty="0">
              <a:latin typeface="MS Gothic" panose="020B0609070205080204" pitchFamily="49" charset="-128"/>
              <a:ea typeface="MS Gothic" panose="020B0609070205080204" pitchFamily="49" charset="-128"/>
            </a:endParaRPr>
          </a:p>
          <a:p>
            <a:pPr marL="0" indent="0">
              <a:buNone/>
            </a:pPr>
            <a:r>
              <a:rPr lang="en-US" altLang="ja-JP" sz="3200" b="1" dirty="0">
                <a:solidFill>
                  <a:srgbClr val="FF0000"/>
                </a:solidFill>
                <a:latin typeface="MS Gothic" panose="020B0609070205080204" pitchFamily="49" charset="-128"/>
                <a:ea typeface="MS Gothic" panose="020B0609070205080204" pitchFamily="49" charset="-128"/>
              </a:rPr>
              <a:t>			</a:t>
            </a:r>
            <a:r>
              <a:rPr lang="en-US" altLang="ja-JP" sz="3200" b="1" u="sng" dirty="0">
                <a:solidFill>
                  <a:srgbClr val="FF0000"/>
                </a:solidFill>
                <a:latin typeface="MS Gothic" panose="020B0609070205080204" pitchFamily="49" charset="-128"/>
                <a:ea typeface="MS Gothic" panose="020B0609070205080204" pitchFamily="49" charset="-128"/>
              </a:rPr>
              <a:t>APR</a:t>
            </a:r>
            <a:r>
              <a:rPr lang="ja-JP" altLang="en-US" sz="3200" b="1" u="sng">
                <a:solidFill>
                  <a:srgbClr val="FF0000"/>
                </a:solidFill>
                <a:latin typeface="MS Gothic" panose="020B0609070205080204" pitchFamily="49" charset="-128"/>
                <a:ea typeface="MS Gothic" panose="020B0609070205080204" pitchFamily="49" charset="-128"/>
              </a:rPr>
              <a:t>技術</a:t>
            </a:r>
            <a:r>
              <a:rPr lang="ja-JP" altLang="en-US" sz="3200" b="1" u="sng">
                <a:latin typeface="MS Gothic" panose="020B0609070205080204" pitchFamily="49" charset="-128"/>
                <a:ea typeface="MS Gothic" panose="020B0609070205080204" pitchFamily="49" charset="-128"/>
              </a:rPr>
              <a:t>による支援</a:t>
            </a:r>
            <a:endParaRPr lang="en-US" altLang="ja-JP" sz="3200" b="1" u="sng" dirty="0">
              <a:latin typeface="MS Gothic" panose="020B0609070205080204" pitchFamily="49" charset="-128"/>
              <a:ea typeface="MS Gothic" panose="020B0609070205080204" pitchFamily="49" charset="-128"/>
            </a:endParaRPr>
          </a:p>
        </p:txBody>
      </p:sp>
      <p:sp>
        <p:nvSpPr>
          <p:cNvPr id="5" name="右矢印 4">
            <a:extLst>
              <a:ext uri="{FF2B5EF4-FFF2-40B4-BE49-F238E27FC236}">
                <a16:creationId xmlns:a16="http://schemas.microsoft.com/office/drawing/2014/main" id="{3A82A02A-EDEC-1646-9948-FB215F344E6C}"/>
              </a:ext>
            </a:extLst>
          </p:cNvPr>
          <p:cNvSpPr/>
          <p:nvPr/>
        </p:nvSpPr>
        <p:spPr>
          <a:xfrm rot="5400000">
            <a:off x="4962570" y="4516822"/>
            <a:ext cx="876944" cy="61674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D2698B51-5B90-1045-B329-678FF6E26780}"/>
              </a:ext>
            </a:extLst>
          </p:cNvPr>
          <p:cNvSpPr>
            <a:spLocks noGrp="1"/>
          </p:cNvSpPr>
          <p:nvPr>
            <p:ph type="sldNum" sz="quarter" idx="12"/>
          </p:nvPr>
        </p:nvSpPr>
        <p:spPr/>
        <p:txBody>
          <a:bodyPr/>
          <a:lstStyle/>
          <a:p>
            <a:fld id="{FA1022E7-004F-2642-A386-7968DDBA477C}" type="slidenum">
              <a:rPr kumimoji="1" lang="ja-JP" altLang="en-US" sz="2000" b="1" smtClean="0"/>
              <a:t>3</a:t>
            </a:fld>
            <a:endParaRPr kumimoji="1" lang="ja-JP" altLang="en-US" sz="2000" b="1"/>
          </a:p>
        </p:txBody>
      </p:sp>
    </p:spTree>
    <p:extLst>
      <p:ext uri="{BB962C8B-B14F-4D97-AF65-F5344CB8AC3E}">
        <p14:creationId xmlns:p14="http://schemas.microsoft.com/office/powerpoint/2010/main" val="3237273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27214-A3EB-E448-918F-C5344523E94B}"/>
              </a:ext>
            </a:extLst>
          </p:cNvPr>
          <p:cNvSpPr>
            <a:spLocks noGrp="1"/>
          </p:cNvSpPr>
          <p:nvPr>
            <p:ph type="title"/>
          </p:nvPr>
        </p:nvSpPr>
        <p:spPr/>
        <p:txBody>
          <a:bodyPr/>
          <a:lstStyle/>
          <a:p>
            <a:r>
              <a:rPr lang="en-US" altLang="ja-JP" b="1" dirty="0">
                <a:solidFill>
                  <a:srgbClr val="FF0000"/>
                </a:solidFill>
                <a:latin typeface="MS Gothic" panose="020B0609070205080204" pitchFamily="49" charset="-128"/>
                <a:ea typeface="MS Gothic" panose="020B0609070205080204" pitchFamily="49" charset="-128"/>
              </a:rPr>
              <a:t>APR</a:t>
            </a:r>
            <a:r>
              <a:rPr lang="ja-JP" altLang="en-US" b="1">
                <a:solidFill>
                  <a:srgbClr val="FF0000"/>
                </a:solidFill>
                <a:latin typeface="MS Gothic" panose="020B0609070205080204" pitchFamily="49" charset="-128"/>
                <a:ea typeface="MS Gothic" panose="020B0609070205080204" pitchFamily="49" charset="-128"/>
              </a:rPr>
              <a:t>がプログラミング教育に与える影響</a:t>
            </a:r>
            <a:endParaRPr kumimoji="1" lang="ja-JP" altLang="en-US" b="1">
              <a:solidFill>
                <a:srgbClr val="FF0000"/>
              </a:solidFill>
              <a:latin typeface="MS Gothic" panose="020B0609070205080204" pitchFamily="49" charset="-128"/>
              <a:ea typeface="MS Gothic" panose="020B0609070205080204" pitchFamily="49" charset="-128"/>
            </a:endParaRPr>
          </a:p>
        </p:txBody>
      </p:sp>
      <p:sp>
        <p:nvSpPr>
          <p:cNvPr id="3" name="コンテンツ プレースホルダー 2">
            <a:extLst>
              <a:ext uri="{FF2B5EF4-FFF2-40B4-BE49-F238E27FC236}">
                <a16:creationId xmlns:a16="http://schemas.microsoft.com/office/drawing/2014/main" id="{98BEF5B3-32FB-D548-B3D3-D89C5196FB4B}"/>
              </a:ext>
            </a:extLst>
          </p:cNvPr>
          <p:cNvSpPr>
            <a:spLocks noGrp="1"/>
          </p:cNvSpPr>
          <p:nvPr>
            <p:ph idx="1"/>
          </p:nvPr>
        </p:nvSpPr>
        <p:spPr>
          <a:xfrm>
            <a:off x="838200" y="1690688"/>
            <a:ext cx="10515600" cy="4351338"/>
          </a:xfrm>
        </p:spPr>
        <p:txBody>
          <a:bodyPr>
            <a:normAutofit/>
          </a:bodyPr>
          <a:lstStyle/>
          <a:p>
            <a:pPr marL="0" indent="0">
              <a:buNone/>
            </a:pPr>
            <a:r>
              <a:rPr lang="ja-JP" altLang="en-US" sz="3600" b="1">
                <a:latin typeface="MS Gothic" panose="020B0609070205080204" pitchFamily="49" charset="-128"/>
                <a:ea typeface="MS Gothic" panose="020B0609070205080204" pitchFamily="49" charset="-128"/>
              </a:rPr>
              <a:t>関連研究</a:t>
            </a:r>
            <a:endParaRPr lang="en-US" altLang="ja-JP" sz="3600" b="1" dirty="0">
              <a:latin typeface="MS Gothic" panose="020B0609070205080204" pitchFamily="49" charset="-128"/>
              <a:ea typeface="MS Gothic" panose="020B0609070205080204" pitchFamily="49" charset="-128"/>
            </a:endParaRPr>
          </a:p>
          <a:p>
            <a:pPr marL="457200" lvl="1" indent="0">
              <a:buNone/>
            </a:pPr>
            <a:r>
              <a:rPr lang="ja-JP" altLang="en-US" sz="3200" b="1">
                <a:latin typeface="MS Gothic" panose="020B0609070205080204" pitchFamily="49" charset="-128"/>
                <a:ea typeface="MS Gothic" panose="020B0609070205080204" pitchFamily="49" charset="-128"/>
              </a:rPr>
              <a:t>インドのある大学の初等プログラミングのコースで学生にプログラム修正を利用したフィードバックを行った</a:t>
            </a:r>
            <a:r>
              <a:rPr lang="en-US" altLang="ja-JP" sz="3200" b="1" dirty="0">
                <a:latin typeface="MS Gothic" panose="020B0609070205080204" pitchFamily="49" charset="-128"/>
                <a:ea typeface="MS Gothic" panose="020B0609070205080204" pitchFamily="49" charset="-128"/>
              </a:rPr>
              <a:t>[4]</a:t>
            </a:r>
            <a:r>
              <a:rPr lang="ja-JP" altLang="en-US" sz="3200" b="1">
                <a:latin typeface="MS Gothic" panose="020B0609070205080204" pitchFamily="49" charset="-128"/>
                <a:ea typeface="MS Gothic" panose="020B0609070205080204" pitchFamily="49" charset="-128"/>
              </a:rPr>
              <a:t>時，行わなかった場合に比べて</a:t>
            </a:r>
            <a:endParaRPr lang="en-US" altLang="ja-JP" sz="3200" b="1" dirty="0">
              <a:latin typeface="MS Gothic" panose="020B0609070205080204" pitchFamily="49" charset="-128"/>
              <a:ea typeface="MS Gothic" panose="020B0609070205080204" pitchFamily="49" charset="-128"/>
            </a:endParaRPr>
          </a:p>
          <a:p>
            <a:pPr marL="457200" lvl="1" indent="0">
              <a:buNone/>
            </a:pPr>
            <a:endParaRPr lang="en-US" altLang="ja-JP" sz="3200" b="1" dirty="0">
              <a:latin typeface="MS Gothic" panose="020B0609070205080204" pitchFamily="49" charset="-128"/>
              <a:ea typeface="MS Gothic" panose="020B0609070205080204" pitchFamily="49" charset="-128"/>
            </a:endParaRPr>
          </a:p>
          <a:p>
            <a:pPr marL="457200" lvl="1" indent="0">
              <a:buNone/>
            </a:pPr>
            <a:r>
              <a:rPr lang="ja-JP" altLang="en-US" sz="3200" b="1">
                <a:latin typeface="MS Gothic" panose="020B0609070205080204" pitchFamily="49" charset="-128"/>
                <a:ea typeface="MS Gothic" panose="020B0609070205080204" pitchFamily="49" charset="-128"/>
              </a:rPr>
              <a:t>・一つのエラーあたりの解決が早い</a:t>
            </a:r>
            <a:endParaRPr lang="en-US" altLang="ja-JP" sz="3200" b="1" dirty="0">
              <a:latin typeface="MS Gothic" panose="020B0609070205080204" pitchFamily="49" charset="-128"/>
              <a:ea typeface="MS Gothic" panose="020B0609070205080204" pitchFamily="49" charset="-128"/>
            </a:endParaRPr>
          </a:p>
          <a:p>
            <a:pPr marL="457200" lvl="1" indent="0">
              <a:buNone/>
            </a:pPr>
            <a:r>
              <a:rPr lang="ja-JP" altLang="en-US" sz="3200" b="1">
                <a:latin typeface="MS Gothic" panose="020B0609070205080204" pitchFamily="49" charset="-128"/>
                <a:ea typeface="MS Gothic" panose="020B0609070205080204" pitchFamily="49" charset="-128"/>
              </a:rPr>
              <a:t>・最終成績に差はない</a:t>
            </a:r>
            <a:endParaRPr lang="en-US" altLang="ja-JP" sz="3200" b="1" dirty="0">
              <a:latin typeface="MS Gothic" panose="020B0609070205080204" pitchFamily="49" charset="-128"/>
              <a:ea typeface="MS Gothic" panose="020B0609070205080204" pitchFamily="49" charset="-128"/>
            </a:endParaRPr>
          </a:p>
          <a:p>
            <a:pPr marL="457200" lvl="1" indent="0">
              <a:buNone/>
            </a:pPr>
            <a:r>
              <a:rPr lang="en-US" altLang="ja-JP" sz="3200" b="1" dirty="0">
                <a:latin typeface="MS Gothic" panose="020B0609070205080204" pitchFamily="49" charset="-128"/>
                <a:ea typeface="MS Gothic" panose="020B0609070205080204" pitchFamily="49" charset="-128"/>
              </a:rPr>
              <a:t>-&gt;</a:t>
            </a:r>
            <a:r>
              <a:rPr lang="ja-JP" altLang="en-US" sz="3200" b="1">
                <a:latin typeface="MS Gothic" panose="020B0609070205080204" pitchFamily="49" charset="-128"/>
                <a:ea typeface="MS Gothic" panose="020B0609070205080204" pitchFamily="49" charset="-128"/>
              </a:rPr>
              <a:t>指導がより効率的になる</a:t>
            </a:r>
            <a:endParaRPr lang="en-US" altLang="ja-JP" sz="3200" b="1" dirty="0">
              <a:latin typeface="MS Gothic" panose="020B0609070205080204" pitchFamily="49" charset="-128"/>
              <a:ea typeface="MS Gothic" panose="020B0609070205080204" pitchFamily="49" charset="-128"/>
            </a:endParaRPr>
          </a:p>
        </p:txBody>
      </p:sp>
      <p:sp>
        <p:nvSpPr>
          <p:cNvPr id="4" name="テキスト ボックス 3">
            <a:extLst>
              <a:ext uri="{FF2B5EF4-FFF2-40B4-BE49-F238E27FC236}">
                <a16:creationId xmlns:a16="http://schemas.microsoft.com/office/drawing/2014/main" id="{943640C8-056C-BC4B-A395-83C027C7F06B}"/>
              </a:ext>
            </a:extLst>
          </p:cNvPr>
          <p:cNvSpPr txBox="1"/>
          <p:nvPr/>
        </p:nvSpPr>
        <p:spPr>
          <a:xfrm>
            <a:off x="692943" y="5657671"/>
            <a:ext cx="10806113" cy="923330"/>
          </a:xfrm>
          <a:prstGeom prst="rect">
            <a:avLst/>
          </a:prstGeom>
          <a:noFill/>
        </p:spPr>
        <p:txBody>
          <a:bodyPr wrap="square" rtlCol="0">
            <a:spAutoFit/>
          </a:bodyPr>
          <a:lstStyle/>
          <a:p>
            <a:r>
              <a:rPr lang="en-US" altLang="ja-JP" dirty="0"/>
              <a:t>[4] Ahmed, Umair Z. and Srivastava, </a:t>
            </a:r>
            <a:r>
              <a:rPr lang="en-US" altLang="ja-JP" dirty="0" err="1"/>
              <a:t>Nisheeth</a:t>
            </a:r>
            <a:r>
              <a:rPr lang="en-US" altLang="ja-JP" dirty="0"/>
              <a:t> and </a:t>
            </a:r>
            <a:r>
              <a:rPr lang="en-US" altLang="ja-JP" dirty="0" err="1"/>
              <a:t>Sindhgatta</a:t>
            </a:r>
            <a:r>
              <a:rPr lang="en-US" altLang="ja-JP" dirty="0"/>
              <a:t>, Renuka and Karkare, </a:t>
            </a:r>
            <a:r>
              <a:rPr lang="en-US" altLang="ja-JP" dirty="0" err="1"/>
              <a:t>Amey</a:t>
            </a:r>
            <a:endParaRPr lang="en-US" altLang="ja-JP" dirty="0"/>
          </a:p>
          <a:p>
            <a:r>
              <a:rPr lang="en-US" altLang="ja-JP" dirty="0"/>
              <a:t>,”Characterizing the Pedagogical Benefits of Adaptive Feedback for Compilation Errors by Novice Programmers”,</a:t>
            </a:r>
            <a:r>
              <a:rPr lang="en-US" altLang="ja-JP" dirty="0">
                <a:hlinkClick r:id="rId3">
                  <a:extLst>
                    <a:ext uri="{A12FA001-AC4F-418D-AE19-62706E023703}">
                      <ahyp:hlinkClr xmlns:ahyp="http://schemas.microsoft.com/office/drawing/2018/hyperlinkcolor" val="tx"/>
                    </a:ext>
                  </a:extLst>
                </a:hlinkClick>
              </a:rPr>
              <a:t> </a:t>
            </a:r>
            <a:r>
              <a:rPr lang="en-US" altLang="ja-JP" dirty="0"/>
              <a:t>ICSE2020 Edu track,2020/6</a:t>
            </a:r>
            <a:endParaRPr kumimoji="1" lang="ja-JP" altLang="en-US"/>
          </a:p>
        </p:txBody>
      </p:sp>
      <p:sp>
        <p:nvSpPr>
          <p:cNvPr id="6" name="スライド番号プレースホルダー 5">
            <a:extLst>
              <a:ext uri="{FF2B5EF4-FFF2-40B4-BE49-F238E27FC236}">
                <a16:creationId xmlns:a16="http://schemas.microsoft.com/office/drawing/2014/main" id="{E0EEFF98-3AD8-E64F-BD2D-A6C86D4051B6}"/>
              </a:ext>
            </a:extLst>
          </p:cNvPr>
          <p:cNvSpPr>
            <a:spLocks noGrp="1"/>
          </p:cNvSpPr>
          <p:nvPr>
            <p:ph type="sldNum" sz="quarter" idx="12"/>
          </p:nvPr>
        </p:nvSpPr>
        <p:spPr/>
        <p:txBody>
          <a:bodyPr/>
          <a:lstStyle/>
          <a:p>
            <a:fld id="{FA1022E7-004F-2642-A386-7968DDBA477C}" type="slidenum">
              <a:rPr kumimoji="1" lang="ja-JP" altLang="en-US" sz="2000" b="1" smtClean="0"/>
              <a:t>4</a:t>
            </a:fld>
            <a:endParaRPr kumimoji="1" lang="ja-JP" altLang="en-US" sz="2000" b="1"/>
          </a:p>
        </p:txBody>
      </p:sp>
    </p:spTree>
    <p:extLst>
      <p:ext uri="{BB962C8B-B14F-4D97-AF65-F5344CB8AC3E}">
        <p14:creationId xmlns:p14="http://schemas.microsoft.com/office/powerpoint/2010/main" val="539703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27214-A3EB-E448-918F-C5344523E94B}"/>
              </a:ext>
            </a:extLst>
          </p:cNvPr>
          <p:cNvSpPr>
            <a:spLocks noGrp="1"/>
          </p:cNvSpPr>
          <p:nvPr>
            <p:ph type="title"/>
          </p:nvPr>
        </p:nvSpPr>
        <p:spPr/>
        <p:txBody>
          <a:bodyPr/>
          <a:lstStyle/>
          <a:p>
            <a:r>
              <a:rPr kumimoji="1" lang="ja-JP" altLang="en-US" b="1">
                <a:latin typeface="MS Gothic" panose="020B0609070205080204" pitchFamily="49" charset="-128"/>
                <a:ea typeface="MS Gothic" panose="020B0609070205080204" pitchFamily="49" charset="-128"/>
              </a:rPr>
              <a:t>松尾の過去研究概要</a:t>
            </a:r>
          </a:p>
        </p:txBody>
      </p:sp>
      <p:sp>
        <p:nvSpPr>
          <p:cNvPr id="3" name="コンテンツ プレースホルダー 2">
            <a:extLst>
              <a:ext uri="{FF2B5EF4-FFF2-40B4-BE49-F238E27FC236}">
                <a16:creationId xmlns:a16="http://schemas.microsoft.com/office/drawing/2014/main" id="{98BEF5B3-32FB-D548-B3D3-D89C5196FB4B}"/>
              </a:ext>
            </a:extLst>
          </p:cNvPr>
          <p:cNvSpPr>
            <a:spLocks noGrp="1"/>
          </p:cNvSpPr>
          <p:nvPr>
            <p:ph idx="1"/>
          </p:nvPr>
        </p:nvSpPr>
        <p:spPr/>
        <p:txBody>
          <a:bodyPr/>
          <a:lstStyle/>
          <a:p>
            <a:pPr marL="0" indent="0">
              <a:buNone/>
            </a:pPr>
            <a:r>
              <a:rPr lang="ja-JP" altLang="en-US" sz="3600" b="1">
                <a:latin typeface="MS Gothic" panose="020B0609070205080204" pitchFamily="49" charset="-128"/>
                <a:ea typeface="MS Gothic" panose="020B0609070205080204" pitchFamily="49" charset="-128"/>
              </a:rPr>
              <a:t>構文エラーに対する自動バグ修正</a:t>
            </a:r>
            <a:r>
              <a:rPr lang="en-US" altLang="ja-JP" sz="3600" b="1" dirty="0">
                <a:latin typeface="MS Gothic" panose="020B0609070205080204" pitchFamily="49" charset="-128"/>
                <a:ea typeface="MS Gothic" panose="020B0609070205080204" pitchFamily="49" charset="-128"/>
              </a:rPr>
              <a:t>(</a:t>
            </a:r>
            <a:r>
              <a:rPr lang="en-US" altLang="ja-JP" sz="3600" b="1" dirty="0" err="1">
                <a:latin typeface="MS Gothic" panose="020B0609070205080204" pitchFamily="49" charset="-128"/>
                <a:ea typeface="MS Gothic" panose="020B0609070205080204" pitchFamily="49" charset="-128"/>
              </a:rPr>
              <a:t>DeepFix</a:t>
            </a:r>
            <a:r>
              <a:rPr lang="en-US" altLang="ja-JP" sz="3600" b="1" dirty="0">
                <a:latin typeface="MS Gothic" panose="020B0609070205080204" pitchFamily="49" charset="-128"/>
                <a:ea typeface="MS Gothic" panose="020B0609070205080204" pitchFamily="49" charset="-128"/>
              </a:rPr>
              <a:t>)</a:t>
            </a:r>
            <a:r>
              <a:rPr lang="ja-JP" altLang="en-US" sz="3600" b="1">
                <a:latin typeface="MS Gothic" panose="020B0609070205080204" pitchFamily="49" charset="-128"/>
                <a:ea typeface="MS Gothic" panose="020B0609070205080204" pitchFamily="49" charset="-128"/>
              </a:rPr>
              <a:t>を</a:t>
            </a:r>
            <a:r>
              <a:rPr lang="ja-JP" altLang="en-US" sz="3600" b="1">
                <a:solidFill>
                  <a:srgbClr val="FF0000"/>
                </a:solidFill>
                <a:latin typeface="MS Gothic" panose="020B0609070205080204" pitchFamily="49" charset="-128"/>
                <a:ea typeface="MS Gothic" panose="020B0609070205080204" pitchFamily="49" charset="-128"/>
              </a:rPr>
              <a:t>実際の教育現場</a:t>
            </a:r>
            <a:r>
              <a:rPr lang="ja-JP" altLang="en-US" sz="3600" b="1">
                <a:latin typeface="MS Gothic" panose="020B0609070205080204" pitchFamily="49" charset="-128"/>
                <a:ea typeface="MS Gothic" panose="020B0609070205080204" pitchFamily="49" charset="-128"/>
              </a:rPr>
              <a:t>から得られたデータセットに対して適用してみる</a:t>
            </a:r>
            <a:endParaRPr lang="en-US" altLang="ja-JP" sz="3600" b="1" dirty="0">
              <a:latin typeface="MS Gothic" panose="020B0609070205080204" pitchFamily="49" charset="-128"/>
              <a:ea typeface="MS Gothic" panose="020B0609070205080204" pitchFamily="49" charset="-128"/>
            </a:endParaRPr>
          </a:p>
          <a:p>
            <a:pPr marL="0" indent="0">
              <a:buNone/>
            </a:pPr>
            <a:endParaRPr lang="en-US" altLang="ja-JP" sz="3600" b="1" dirty="0">
              <a:latin typeface="MS Gothic" panose="020B0609070205080204" pitchFamily="49" charset="-128"/>
              <a:ea typeface="MS Gothic" panose="020B0609070205080204" pitchFamily="49" charset="-128"/>
            </a:endParaRPr>
          </a:p>
          <a:p>
            <a:pPr marL="457200" lvl="1" indent="0">
              <a:buNone/>
            </a:pPr>
            <a:r>
              <a:rPr lang="ja-JP" altLang="en-US" sz="3200" b="1">
                <a:latin typeface="MS Gothic" panose="020B0609070205080204" pitchFamily="49" charset="-128"/>
                <a:ea typeface="MS Gothic" panose="020B0609070205080204" pitchFamily="49" charset="-128"/>
              </a:rPr>
              <a:t>先行研究のデータを学習して，九州大学のプログラミング科目で得られたデータを修正し，何</a:t>
            </a:r>
            <a:r>
              <a:rPr lang="en-US" altLang="ja-JP" sz="3200" b="1" dirty="0">
                <a:latin typeface="MS Gothic" panose="020B0609070205080204" pitchFamily="49" charset="-128"/>
                <a:ea typeface="MS Gothic" panose="020B0609070205080204" pitchFamily="49" charset="-128"/>
              </a:rPr>
              <a:t>%</a:t>
            </a:r>
            <a:r>
              <a:rPr lang="ja-JP" altLang="en-US" sz="3200" b="1">
                <a:latin typeface="MS Gothic" panose="020B0609070205080204" pitchFamily="49" charset="-128"/>
                <a:ea typeface="MS Gothic" panose="020B0609070205080204" pitchFamily="49" charset="-128"/>
              </a:rPr>
              <a:t>くらい修正が成功するか</a:t>
            </a:r>
            <a:r>
              <a:rPr lang="en-US" altLang="ja-JP" sz="3200" b="1" dirty="0">
                <a:latin typeface="MS Gothic" panose="020B0609070205080204" pitchFamily="49" charset="-128"/>
                <a:ea typeface="MS Gothic" panose="020B0609070205080204" pitchFamily="49" charset="-128"/>
              </a:rPr>
              <a:t> </a:t>
            </a:r>
            <a:r>
              <a:rPr lang="en-US" altLang="ja-JP" sz="3200" b="1" dirty="0" err="1">
                <a:latin typeface="MS Gothic" panose="020B0609070205080204" pitchFamily="49" charset="-128"/>
                <a:ea typeface="MS Gothic" panose="020B0609070205080204" pitchFamily="49" charset="-128"/>
              </a:rPr>
              <a:t>etc</a:t>
            </a:r>
            <a:r>
              <a:rPr lang="en-US" altLang="ja-JP" sz="3200" b="1" dirty="0">
                <a:latin typeface="MS Gothic" panose="020B0609070205080204" pitchFamily="49" charset="-128"/>
                <a:ea typeface="MS Gothic" panose="020B0609070205080204" pitchFamily="49" charset="-128"/>
              </a:rPr>
              <a:t>…</a:t>
            </a:r>
          </a:p>
        </p:txBody>
      </p:sp>
      <p:sp>
        <p:nvSpPr>
          <p:cNvPr id="5" name="スライド番号プレースホルダー 4">
            <a:extLst>
              <a:ext uri="{FF2B5EF4-FFF2-40B4-BE49-F238E27FC236}">
                <a16:creationId xmlns:a16="http://schemas.microsoft.com/office/drawing/2014/main" id="{27A39974-3BC8-9945-8428-9EE72A01CC69}"/>
              </a:ext>
            </a:extLst>
          </p:cNvPr>
          <p:cNvSpPr>
            <a:spLocks noGrp="1"/>
          </p:cNvSpPr>
          <p:nvPr>
            <p:ph type="sldNum" sz="quarter" idx="12"/>
          </p:nvPr>
        </p:nvSpPr>
        <p:spPr/>
        <p:txBody>
          <a:bodyPr/>
          <a:lstStyle/>
          <a:p>
            <a:fld id="{FA1022E7-004F-2642-A386-7968DDBA477C}" type="slidenum">
              <a:rPr kumimoji="1" lang="ja-JP" altLang="en-US" sz="2000" b="1" smtClean="0"/>
              <a:t>5</a:t>
            </a:fld>
            <a:endParaRPr kumimoji="1" lang="ja-JP" altLang="en-US" sz="2000" b="1"/>
          </a:p>
        </p:txBody>
      </p:sp>
    </p:spTree>
    <p:extLst>
      <p:ext uri="{BB962C8B-B14F-4D97-AF65-F5344CB8AC3E}">
        <p14:creationId xmlns:p14="http://schemas.microsoft.com/office/powerpoint/2010/main" val="3981945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27214-A3EB-E448-918F-C5344523E94B}"/>
              </a:ext>
            </a:extLst>
          </p:cNvPr>
          <p:cNvSpPr>
            <a:spLocks noGrp="1"/>
          </p:cNvSpPr>
          <p:nvPr>
            <p:ph type="title"/>
          </p:nvPr>
        </p:nvSpPr>
        <p:spPr/>
        <p:txBody>
          <a:bodyPr/>
          <a:lstStyle/>
          <a:p>
            <a:r>
              <a:rPr kumimoji="1" lang="ja-JP" altLang="en-US" b="1">
                <a:latin typeface="MS Gothic" panose="020B0609070205080204" pitchFamily="49" charset="-128"/>
                <a:ea typeface="MS Gothic" panose="020B0609070205080204" pitchFamily="49" charset="-128"/>
              </a:rPr>
              <a:t>松尾の</a:t>
            </a:r>
            <a:r>
              <a:rPr lang="ja-JP" altLang="en-US" b="1">
                <a:latin typeface="MS Gothic" panose="020B0609070205080204" pitchFamily="49" charset="-128"/>
                <a:ea typeface="MS Gothic" panose="020B0609070205080204" pitchFamily="49" charset="-128"/>
              </a:rPr>
              <a:t>現在の</a:t>
            </a:r>
            <a:r>
              <a:rPr kumimoji="1" lang="ja-JP" altLang="en-US" b="1">
                <a:latin typeface="MS Gothic" panose="020B0609070205080204" pitchFamily="49" charset="-128"/>
                <a:ea typeface="MS Gothic" panose="020B0609070205080204" pitchFamily="49" charset="-128"/>
              </a:rPr>
              <a:t>研究</a:t>
            </a:r>
          </a:p>
        </p:txBody>
      </p:sp>
      <p:sp>
        <p:nvSpPr>
          <p:cNvPr id="3" name="コンテンツ プレースホルダー 2">
            <a:extLst>
              <a:ext uri="{FF2B5EF4-FFF2-40B4-BE49-F238E27FC236}">
                <a16:creationId xmlns:a16="http://schemas.microsoft.com/office/drawing/2014/main" id="{98BEF5B3-32FB-D548-B3D3-D89C5196FB4B}"/>
              </a:ext>
            </a:extLst>
          </p:cNvPr>
          <p:cNvSpPr>
            <a:spLocks noGrp="1"/>
          </p:cNvSpPr>
          <p:nvPr>
            <p:ph idx="1"/>
          </p:nvPr>
        </p:nvSpPr>
        <p:spPr/>
        <p:txBody>
          <a:bodyPr/>
          <a:lstStyle/>
          <a:p>
            <a:pPr marL="0" indent="0">
              <a:buNone/>
            </a:pPr>
            <a:r>
              <a:rPr lang="en-US" altLang="ja-JP" sz="3600" b="1" dirty="0">
                <a:latin typeface="MS Gothic" panose="020B0609070205080204" pitchFamily="49" charset="-128"/>
                <a:ea typeface="MS Gothic" panose="020B0609070205080204" pitchFamily="49" charset="-128"/>
              </a:rPr>
              <a:t>APR</a:t>
            </a:r>
            <a:r>
              <a:rPr lang="ja-JP" altLang="en-US" sz="3600" b="1">
                <a:latin typeface="MS Gothic" panose="020B0609070205080204" pitchFamily="49" charset="-128"/>
                <a:ea typeface="MS Gothic" panose="020B0609070205080204" pitchFamily="49" charset="-128"/>
              </a:rPr>
              <a:t>で</a:t>
            </a:r>
            <a:r>
              <a:rPr lang="ja-JP" altLang="en-US" sz="3600" b="1">
                <a:solidFill>
                  <a:srgbClr val="FF0000"/>
                </a:solidFill>
                <a:latin typeface="MS Gothic" panose="020B0609070205080204" pitchFamily="49" charset="-128"/>
                <a:ea typeface="MS Gothic" panose="020B0609070205080204" pitchFamily="49" charset="-128"/>
              </a:rPr>
              <a:t>構文エラーと論理エラーを一気に</a:t>
            </a:r>
            <a:r>
              <a:rPr lang="ja-JP" altLang="en-US" sz="3600" b="1">
                <a:latin typeface="MS Gothic" panose="020B0609070205080204" pitchFamily="49" charset="-128"/>
                <a:ea typeface="MS Gothic" panose="020B0609070205080204" pitchFamily="49" charset="-128"/>
              </a:rPr>
              <a:t>直したい</a:t>
            </a:r>
            <a:endParaRPr lang="en-US" altLang="ja-JP" sz="3600" b="1" dirty="0">
              <a:latin typeface="MS Gothic" panose="020B0609070205080204" pitchFamily="49" charset="-128"/>
              <a:ea typeface="MS Gothic" panose="020B0609070205080204" pitchFamily="49" charset="-128"/>
            </a:endParaRPr>
          </a:p>
          <a:p>
            <a:pPr marL="0" indent="0">
              <a:buNone/>
            </a:pPr>
            <a:endParaRPr lang="en-US" altLang="ja-JP" sz="3200" b="1" dirty="0">
              <a:latin typeface="MS Gothic" panose="020B0609070205080204" pitchFamily="49" charset="-128"/>
              <a:ea typeface="MS Gothic" panose="020B0609070205080204" pitchFamily="49" charset="-128"/>
            </a:endParaRPr>
          </a:p>
          <a:p>
            <a:pPr marL="457200" lvl="1" indent="0">
              <a:buNone/>
            </a:pPr>
            <a:r>
              <a:rPr lang="ja-JP" altLang="en-US" sz="3200" b="1">
                <a:latin typeface="MS Gothic" panose="020B0609070205080204" pitchFamily="49" charset="-128"/>
                <a:ea typeface="MS Gothic" panose="020B0609070205080204" pitchFamily="49" charset="-128"/>
              </a:rPr>
              <a:t>構文エラーに対する</a:t>
            </a:r>
            <a:r>
              <a:rPr lang="en-US" altLang="ja-JP" sz="3200" b="1" dirty="0">
                <a:latin typeface="MS Gothic" panose="020B0609070205080204" pitchFamily="49" charset="-128"/>
                <a:ea typeface="MS Gothic" panose="020B0609070205080204" pitchFamily="49" charset="-128"/>
              </a:rPr>
              <a:t>APR</a:t>
            </a:r>
          </a:p>
          <a:p>
            <a:pPr marL="457200" lvl="1" indent="0">
              <a:buNone/>
            </a:pPr>
            <a:r>
              <a:rPr lang="en-US" altLang="ja-JP" sz="3200" b="1" dirty="0">
                <a:latin typeface="MS Gothic" panose="020B0609070205080204" pitchFamily="49" charset="-128"/>
                <a:ea typeface="MS Gothic" panose="020B0609070205080204" pitchFamily="49" charset="-128"/>
              </a:rPr>
              <a:t>						</a:t>
            </a:r>
            <a:r>
              <a:rPr lang="ja-JP" altLang="en-US" sz="3200" b="1">
                <a:solidFill>
                  <a:srgbClr val="FF0000"/>
                </a:solidFill>
                <a:latin typeface="MS Gothic" panose="020B0609070205080204" pitchFamily="49" charset="-128"/>
                <a:ea typeface="MS Gothic" panose="020B0609070205080204" pitchFamily="49" charset="-128"/>
              </a:rPr>
              <a:t>併用</a:t>
            </a:r>
            <a:r>
              <a:rPr lang="ja-JP" altLang="en-US" sz="3200" b="1">
                <a:latin typeface="MS Gothic" panose="020B0609070205080204" pitchFamily="49" charset="-128"/>
                <a:ea typeface="MS Gothic" panose="020B0609070205080204" pitchFamily="49" charset="-128"/>
              </a:rPr>
              <a:t>したらどうなの？</a:t>
            </a:r>
            <a:endParaRPr lang="en-US" altLang="ja-JP" sz="3200" b="1" dirty="0">
              <a:latin typeface="MS Gothic" panose="020B0609070205080204" pitchFamily="49" charset="-128"/>
              <a:ea typeface="MS Gothic" panose="020B0609070205080204" pitchFamily="49" charset="-128"/>
            </a:endParaRPr>
          </a:p>
          <a:p>
            <a:pPr marL="457200" lvl="1" indent="0">
              <a:buNone/>
            </a:pPr>
            <a:r>
              <a:rPr lang="ja-JP" altLang="en-US" sz="3200" b="1">
                <a:latin typeface="MS Gothic" panose="020B0609070205080204" pitchFamily="49" charset="-128"/>
                <a:ea typeface="MS Gothic" panose="020B0609070205080204" pitchFamily="49" charset="-128"/>
              </a:rPr>
              <a:t>論理エラーに対する</a:t>
            </a:r>
            <a:r>
              <a:rPr lang="en-US" altLang="ja-JP" sz="3200" b="1" dirty="0">
                <a:latin typeface="MS Gothic" panose="020B0609070205080204" pitchFamily="49" charset="-128"/>
                <a:ea typeface="MS Gothic" panose="020B0609070205080204" pitchFamily="49" charset="-128"/>
              </a:rPr>
              <a:t>APR</a:t>
            </a:r>
          </a:p>
          <a:p>
            <a:pPr marL="457200" lvl="1" indent="0">
              <a:buNone/>
            </a:pPr>
            <a:endParaRPr lang="en-US" altLang="ja-JP" sz="2800" b="1" dirty="0">
              <a:latin typeface="MS Gothic" panose="020B0609070205080204" pitchFamily="49" charset="-128"/>
              <a:ea typeface="MS Gothic" panose="020B0609070205080204" pitchFamily="49" charset="-128"/>
            </a:endParaRPr>
          </a:p>
        </p:txBody>
      </p:sp>
      <p:sp>
        <p:nvSpPr>
          <p:cNvPr id="5" name="スライド番号プレースホルダー 4">
            <a:extLst>
              <a:ext uri="{FF2B5EF4-FFF2-40B4-BE49-F238E27FC236}">
                <a16:creationId xmlns:a16="http://schemas.microsoft.com/office/drawing/2014/main" id="{2B198CA1-8335-7740-B406-38F5D6D58E2D}"/>
              </a:ext>
            </a:extLst>
          </p:cNvPr>
          <p:cNvSpPr>
            <a:spLocks noGrp="1"/>
          </p:cNvSpPr>
          <p:nvPr>
            <p:ph type="sldNum" sz="quarter" idx="12"/>
          </p:nvPr>
        </p:nvSpPr>
        <p:spPr/>
        <p:txBody>
          <a:bodyPr/>
          <a:lstStyle/>
          <a:p>
            <a:fld id="{FA1022E7-004F-2642-A386-7968DDBA477C}" type="slidenum">
              <a:rPr kumimoji="1" lang="ja-JP" altLang="en-US" sz="2000" b="1" smtClean="0"/>
              <a:t>6</a:t>
            </a:fld>
            <a:endParaRPr kumimoji="1" lang="ja-JP" altLang="en-US" sz="2000" b="1"/>
          </a:p>
        </p:txBody>
      </p:sp>
    </p:spTree>
    <p:extLst>
      <p:ext uri="{BB962C8B-B14F-4D97-AF65-F5344CB8AC3E}">
        <p14:creationId xmlns:p14="http://schemas.microsoft.com/office/powerpoint/2010/main" val="3931813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27214-A3EB-E448-918F-C5344523E94B}"/>
              </a:ext>
            </a:extLst>
          </p:cNvPr>
          <p:cNvSpPr>
            <a:spLocks noGrp="1"/>
          </p:cNvSpPr>
          <p:nvPr>
            <p:ph type="title"/>
          </p:nvPr>
        </p:nvSpPr>
        <p:spPr/>
        <p:txBody>
          <a:bodyPr/>
          <a:lstStyle/>
          <a:p>
            <a:r>
              <a:rPr lang="ja-JP" altLang="en-US" b="1">
                <a:latin typeface="MS Gothic" panose="020B0609070205080204" pitchFamily="49" charset="-128"/>
                <a:ea typeface="MS Gothic" panose="020B0609070205080204" pitchFamily="49" charset="-128"/>
              </a:rPr>
              <a:t>松尾の現在の研究イメージ</a:t>
            </a:r>
            <a:endParaRPr kumimoji="1" lang="ja-JP" altLang="en-US" b="1">
              <a:latin typeface="MS Gothic" panose="020B0609070205080204" pitchFamily="49" charset="-128"/>
              <a:ea typeface="MS Gothic" panose="020B0609070205080204" pitchFamily="49" charset="-128"/>
            </a:endParaRPr>
          </a:p>
        </p:txBody>
      </p:sp>
      <p:grpSp>
        <p:nvGrpSpPr>
          <p:cNvPr id="5" name="グループ化 4">
            <a:extLst>
              <a:ext uri="{FF2B5EF4-FFF2-40B4-BE49-F238E27FC236}">
                <a16:creationId xmlns:a16="http://schemas.microsoft.com/office/drawing/2014/main" id="{852799BD-93B2-0D49-BC8F-4C1E3B568CDD}"/>
              </a:ext>
            </a:extLst>
          </p:cNvPr>
          <p:cNvGrpSpPr/>
          <p:nvPr/>
        </p:nvGrpSpPr>
        <p:grpSpPr>
          <a:xfrm>
            <a:off x="1615306" y="1382714"/>
            <a:ext cx="1476375" cy="1681163"/>
            <a:chOff x="681038" y="2557463"/>
            <a:chExt cx="2133599" cy="1962150"/>
          </a:xfrm>
        </p:grpSpPr>
        <p:pic>
          <p:nvPicPr>
            <p:cNvPr id="6" name="グラフィックス 5" descr="ブログ 枠線">
              <a:extLst>
                <a:ext uri="{FF2B5EF4-FFF2-40B4-BE49-F238E27FC236}">
                  <a16:creationId xmlns:a16="http://schemas.microsoft.com/office/drawing/2014/main" id="{EEF2E8CB-F3B7-3D4E-B9C2-C338409F6D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2487" y="2557463"/>
              <a:ext cx="1962150" cy="1962150"/>
            </a:xfrm>
            <a:prstGeom prst="rect">
              <a:avLst/>
            </a:prstGeom>
          </p:spPr>
        </p:pic>
        <p:pic>
          <p:nvPicPr>
            <p:cNvPr id="7" name="グラフィックス 6" descr="甲虫 単色塗りつぶし">
              <a:extLst>
                <a:ext uri="{FF2B5EF4-FFF2-40B4-BE49-F238E27FC236}">
                  <a16:creationId xmlns:a16="http://schemas.microsoft.com/office/drawing/2014/main" id="{E4C13C89-EAEA-A248-AB38-F15D1E1B09A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1038" y="2733675"/>
              <a:ext cx="914400" cy="914400"/>
            </a:xfrm>
            <a:prstGeom prst="rect">
              <a:avLst/>
            </a:prstGeom>
          </p:spPr>
        </p:pic>
      </p:grpSp>
      <p:sp>
        <p:nvSpPr>
          <p:cNvPr id="9" name="右矢印 8">
            <a:extLst>
              <a:ext uri="{FF2B5EF4-FFF2-40B4-BE49-F238E27FC236}">
                <a16:creationId xmlns:a16="http://schemas.microsoft.com/office/drawing/2014/main" id="{D24BAF04-DA38-1846-A8E6-B3F7283BE1C7}"/>
              </a:ext>
            </a:extLst>
          </p:cNvPr>
          <p:cNvSpPr/>
          <p:nvPr/>
        </p:nvSpPr>
        <p:spPr>
          <a:xfrm>
            <a:off x="4067994" y="2055417"/>
            <a:ext cx="929326" cy="52842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0" name="右矢印 9">
            <a:extLst>
              <a:ext uri="{FF2B5EF4-FFF2-40B4-BE49-F238E27FC236}">
                <a16:creationId xmlns:a16="http://schemas.microsoft.com/office/drawing/2014/main" id="{A43AB74D-C4EC-0D49-B024-BFFFD58C352B}"/>
              </a:ext>
            </a:extLst>
          </p:cNvPr>
          <p:cNvSpPr/>
          <p:nvPr/>
        </p:nvSpPr>
        <p:spPr>
          <a:xfrm>
            <a:off x="7835133" y="2078039"/>
            <a:ext cx="929326" cy="52842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DC309F69-42F0-A042-85CC-9A0D42CEFCE9}"/>
              </a:ext>
            </a:extLst>
          </p:cNvPr>
          <p:cNvSpPr txBox="1"/>
          <p:nvPr/>
        </p:nvSpPr>
        <p:spPr>
          <a:xfrm>
            <a:off x="855751" y="2891689"/>
            <a:ext cx="3427541" cy="1200329"/>
          </a:xfrm>
          <a:prstGeom prst="rect">
            <a:avLst/>
          </a:prstGeom>
          <a:noFill/>
        </p:spPr>
        <p:txBody>
          <a:bodyPr wrap="none" rtlCol="0">
            <a:spAutoFit/>
          </a:bodyPr>
          <a:lstStyle/>
          <a:p>
            <a:r>
              <a:rPr kumimoji="1" lang="ja-JP" altLang="en-US" sz="3600" b="1">
                <a:solidFill>
                  <a:srgbClr val="FF0000"/>
                </a:solidFill>
                <a:latin typeface="MS Gothic" panose="020B0609070205080204" pitchFamily="49" charset="-128"/>
                <a:ea typeface="MS Gothic" panose="020B0609070205080204" pitchFamily="49" charset="-128"/>
              </a:rPr>
              <a:t>構文エラー</a:t>
            </a:r>
            <a:r>
              <a:rPr kumimoji="1" lang="ja-JP" altLang="en-US" sz="3600" b="1">
                <a:latin typeface="MS Gothic" panose="020B0609070205080204" pitchFamily="49" charset="-128"/>
                <a:ea typeface="MS Gothic" panose="020B0609070205080204" pitchFamily="49" charset="-128"/>
              </a:rPr>
              <a:t>あり</a:t>
            </a:r>
            <a:endParaRPr kumimoji="1" lang="en-US" altLang="ja-JP" sz="3600" b="1" dirty="0">
              <a:latin typeface="MS Gothic" panose="020B0609070205080204" pitchFamily="49" charset="-128"/>
              <a:ea typeface="MS Gothic" panose="020B0609070205080204" pitchFamily="49" charset="-128"/>
            </a:endParaRPr>
          </a:p>
          <a:p>
            <a:r>
              <a:rPr lang="ja-JP" altLang="en-US" sz="3600" b="1">
                <a:solidFill>
                  <a:schemeClr val="accent1"/>
                </a:solidFill>
                <a:latin typeface="MS Gothic" panose="020B0609070205080204" pitchFamily="49" charset="-128"/>
                <a:ea typeface="MS Gothic" panose="020B0609070205080204" pitchFamily="49" charset="-128"/>
              </a:rPr>
              <a:t>論理エラー</a:t>
            </a:r>
            <a:r>
              <a:rPr lang="ja-JP" altLang="en-US" sz="3600" b="1">
                <a:latin typeface="MS Gothic" panose="020B0609070205080204" pitchFamily="49" charset="-128"/>
                <a:ea typeface="MS Gothic" panose="020B0609070205080204" pitchFamily="49" charset="-128"/>
              </a:rPr>
              <a:t>あり</a:t>
            </a:r>
          </a:p>
        </p:txBody>
      </p:sp>
      <p:grpSp>
        <p:nvGrpSpPr>
          <p:cNvPr id="14" name="グループ化 13">
            <a:extLst>
              <a:ext uri="{FF2B5EF4-FFF2-40B4-BE49-F238E27FC236}">
                <a16:creationId xmlns:a16="http://schemas.microsoft.com/office/drawing/2014/main" id="{D42768B6-E393-F546-A238-A7E57E4176E3}"/>
              </a:ext>
            </a:extLst>
          </p:cNvPr>
          <p:cNvGrpSpPr/>
          <p:nvPr/>
        </p:nvGrpSpPr>
        <p:grpSpPr>
          <a:xfrm>
            <a:off x="9740772" y="1418874"/>
            <a:ext cx="1476375" cy="1681163"/>
            <a:chOff x="681038" y="2557463"/>
            <a:chExt cx="2133599" cy="1962150"/>
          </a:xfrm>
        </p:grpSpPr>
        <p:pic>
          <p:nvPicPr>
            <p:cNvPr id="15" name="グラフィックス 14" descr="ブログ 枠線">
              <a:extLst>
                <a:ext uri="{FF2B5EF4-FFF2-40B4-BE49-F238E27FC236}">
                  <a16:creationId xmlns:a16="http://schemas.microsoft.com/office/drawing/2014/main" id="{776690C1-C30B-7145-A1E5-86C37CC0C1D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2487" y="2557463"/>
              <a:ext cx="1962150" cy="1962150"/>
            </a:xfrm>
            <a:prstGeom prst="rect">
              <a:avLst/>
            </a:prstGeom>
          </p:spPr>
        </p:pic>
        <p:pic>
          <p:nvPicPr>
            <p:cNvPr id="16" name="グラフィックス 15" descr="甲虫 単色塗りつぶし">
              <a:extLst>
                <a:ext uri="{FF2B5EF4-FFF2-40B4-BE49-F238E27FC236}">
                  <a16:creationId xmlns:a16="http://schemas.microsoft.com/office/drawing/2014/main" id="{78EC69B7-6C26-504D-91F6-F64E19C29C4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1038" y="2733675"/>
              <a:ext cx="914400" cy="914400"/>
            </a:xfrm>
            <a:prstGeom prst="rect">
              <a:avLst/>
            </a:prstGeom>
          </p:spPr>
        </p:pic>
      </p:grpSp>
      <p:pic>
        <p:nvPicPr>
          <p:cNvPr id="17" name="グラフィックス 16" descr="甲虫 単色塗りつぶし">
            <a:extLst>
              <a:ext uri="{FF2B5EF4-FFF2-40B4-BE49-F238E27FC236}">
                <a16:creationId xmlns:a16="http://schemas.microsoft.com/office/drawing/2014/main" id="{37333423-0861-D54C-984A-A7337D66DA3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78042" y="1508377"/>
            <a:ext cx="632732" cy="783455"/>
          </a:xfrm>
          <a:prstGeom prst="rect">
            <a:avLst/>
          </a:prstGeom>
        </p:spPr>
      </p:pic>
      <p:sp>
        <p:nvSpPr>
          <p:cNvPr id="19" name="テキスト ボックス 18">
            <a:extLst>
              <a:ext uri="{FF2B5EF4-FFF2-40B4-BE49-F238E27FC236}">
                <a16:creationId xmlns:a16="http://schemas.microsoft.com/office/drawing/2014/main" id="{7A99788F-E985-D346-9264-E202621C590E}"/>
              </a:ext>
            </a:extLst>
          </p:cNvPr>
          <p:cNvSpPr txBox="1"/>
          <p:nvPr/>
        </p:nvSpPr>
        <p:spPr>
          <a:xfrm>
            <a:off x="5188255" y="3100037"/>
            <a:ext cx="2646878" cy="1077218"/>
          </a:xfrm>
          <a:prstGeom prst="rect">
            <a:avLst/>
          </a:prstGeom>
          <a:noFill/>
        </p:spPr>
        <p:txBody>
          <a:bodyPr wrap="none" rtlCol="0">
            <a:spAutoFit/>
          </a:bodyPr>
          <a:lstStyle/>
          <a:p>
            <a:r>
              <a:rPr kumimoji="1" lang="ja-JP" altLang="en-US" sz="3200" b="1">
                <a:solidFill>
                  <a:srgbClr val="FF0000"/>
                </a:solidFill>
                <a:latin typeface="MS Gothic" panose="020B0609070205080204" pitchFamily="49" charset="-128"/>
                <a:ea typeface="MS Gothic" panose="020B0609070205080204" pitchFamily="49" charset="-128"/>
              </a:rPr>
              <a:t>構文エラー</a:t>
            </a:r>
            <a:r>
              <a:rPr kumimoji="1" lang="ja-JP" altLang="en-US" sz="3200" b="1">
                <a:latin typeface="MS Gothic" panose="020B0609070205080204" pitchFamily="49" charset="-128"/>
                <a:ea typeface="MS Gothic" panose="020B0609070205080204" pitchFamily="49" charset="-128"/>
              </a:rPr>
              <a:t>に</a:t>
            </a:r>
            <a:endParaRPr kumimoji="1" lang="en-US" altLang="ja-JP" sz="3200" b="1" dirty="0">
              <a:latin typeface="MS Gothic" panose="020B0609070205080204" pitchFamily="49" charset="-128"/>
              <a:ea typeface="MS Gothic" panose="020B0609070205080204" pitchFamily="49" charset="-128"/>
            </a:endParaRPr>
          </a:p>
          <a:p>
            <a:r>
              <a:rPr kumimoji="1" lang="ja-JP" altLang="en-US" sz="3200" b="1">
                <a:latin typeface="MS Gothic" panose="020B0609070205080204" pitchFamily="49" charset="-128"/>
                <a:ea typeface="MS Gothic" panose="020B0609070205080204" pitchFamily="49" charset="-128"/>
              </a:rPr>
              <a:t>対する</a:t>
            </a:r>
            <a:r>
              <a:rPr kumimoji="1" lang="en-US" altLang="ja-JP" sz="3200" b="1" dirty="0">
                <a:latin typeface="MS Gothic" panose="020B0609070205080204" pitchFamily="49" charset="-128"/>
                <a:ea typeface="MS Gothic" panose="020B0609070205080204" pitchFamily="49" charset="-128"/>
              </a:rPr>
              <a:t>APR</a:t>
            </a:r>
            <a:endParaRPr kumimoji="1" lang="ja-JP" altLang="en-US" sz="3200" b="1">
              <a:latin typeface="MS Gothic" panose="020B0609070205080204" pitchFamily="49" charset="-128"/>
              <a:ea typeface="MS Gothic" panose="020B0609070205080204" pitchFamily="49" charset="-128"/>
            </a:endParaRPr>
          </a:p>
        </p:txBody>
      </p:sp>
      <p:pic>
        <p:nvPicPr>
          <p:cNvPr id="21" name="グラフィックス 20" descr="人工知能 単色塗りつぶし">
            <a:extLst>
              <a:ext uri="{FF2B5EF4-FFF2-40B4-BE49-F238E27FC236}">
                <a16:creationId xmlns:a16="http://schemas.microsoft.com/office/drawing/2014/main" id="{75D49369-D2D8-304A-B930-E234BEB9C67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68394" y="1494418"/>
            <a:ext cx="1695665" cy="1695665"/>
          </a:xfrm>
          <a:prstGeom prst="rect">
            <a:avLst/>
          </a:prstGeom>
        </p:spPr>
      </p:pic>
      <p:pic>
        <p:nvPicPr>
          <p:cNvPr id="23" name="グラフィックス 22" descr="人工知能 枠線">
            <a:extLst>
              <a:ext uri="{FF2B5EF4-FFF2-40B4-BE49-F238E27FC236}">
                <a16:creationId xmlns:a16="http://schemas.microsoft.com/office/drawing/2014/main" id="{043AB50D-4126-C74A-B7A6-FF80DE80B8C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568393" y="4005569"/>
            <a:ext cx="1695665" cy="1695665"/>
          </a:xfrm>
          <a:prstGeom prst="rect">
            <a:avLst/>
          </a:prstGeom>
        </p:spPr>
      </p:pic>
      <p:sp>
        <p:nvSpPr>
          <p:cNvPr id="24" name="右矢印 23">
            <a:extLst>
              <a:ext uri="{FF2B5EF4-FFF2-40B4-BE49-F238E27FC236}">
                <a16:creationId xmlns:a16="http://schemas.microsoft.com/office/drawing/2014/main" id="{1695C1B0-7262-E54A-8495-5A497A000671}"/>
              </a:ext>
            </a:extLst>
          </p:cNvPr>
          <p:cNvSpPr/>
          <p:nvPr/>
        </p:nvSpPr>
        <p:spPr>
          <a:xfrm rot="8414779">
            <a:off x="7474022" y="3958361"/>
            <a:ext cx="1337638" cy="52842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1A64195F-3556-444A-A22D-1CD7E1D5E519}"/>
              </a:ext>
            </a:extLst>
          </p:cNvPr>
          <p:cNvSpPr txBox="1"/>
          <p:nvPr/>
        </p:nvSpPr>
        <p:spPr>
          <a:xfrm>
            <a:off x="8764459" y="3168687"/>
            <a:ext cx="3427541" cy="646331"/>
          </a:xfrm>
          <a:prstGeom prst="rect">
            <a:avLst/>
          </a:prstGeom>
          <a:noFill/>
        </p:spPr>
        <p:txBody>
          <a:bodyPr wrap="none" rtlCol="0">
            <a:spAutoFit/>
          </a:bodyPr>
          <a:lstStyle/>
          <a:p>
            <a:r>
              <a:rPr lang="ja-JP" altLang="en-US" sz="3600" b="1">
                <a:solidFill>
                  <a:schemeClr val="accent1"/>
                </a:solidFill>
                <a:latin typeface="MS Gothic" panose="020B0609070205080204" pitchFamily="49" charset="-128"/>
                <a:ea typeface="MS Gothic" panose="020B0609070205080204" pitchFamily="49" charset="-128"/>
              </a:rPr>
              <a:t>論理エラー</a:t>
            </a:r>
            <a:r>
              <a:rPr lang="ja-JP" altLang="en-US" sz="3600" b="1">
                <a:latin typeface="MS Gothic" panose="020B0609070205080204" pitchFamily="49" charset="-128"/>
                <a:ea typeface="MS Gothic" panose="020B0609070205080204" pitchFamily="49" charset="-128"/>
              </a:rPr>
              <a:t>あり</a:t>
            </a:r>
          </a:p>
        </p:txBody>
      </p:sp>
      <p:pic>
        <p:nvPicPr>
          <p:cNvPr id="27" name="グラフィックス 26" descr="ブログ 枠線">
            <a:extLst>
              <a:ext uri="{FF2B5EF4-FFF2-40B4-BE49-F238E27FC236}">
                <a16:creationId xmlns:a16="http://schemas.microsoft.com/office/drawing/2014/main" id="{40EF0FFF-9FC3-B14E-A803-43D8520C30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3943" y="4177255"/>
            <a:ext cx="1357738" cy="1681163"/>
          </a:xfrm>
          <a:prstGeom prst="rect">
            <a:avLst/>
          </a:prstGeom>
        </p:spPr>
      </p:pic>
      <p:sp>
        <p:nvSpPr>
          <p:cNvPr id="29" name="テキスト ボックス 28">
            <a:extLst>
              <a:ext uri="{FF2B5EF4-FFF2-40B4-BE49-F238E27FC236}">
                <a16:creationId xmlns:a16="http://schemas.microsoft.com/office/drawing/2014/main" id="{00A67D0A-2909-F847-AB09-1667878CDE08}"/>
              </a:ext>
            </a:extLst>
          </p:cNvPr>
          <p:cNvSpPr txBox="1"/>
          <p:nvPr/>
        </p:nvSpPr>
        <p:spPr>
          <a:xfrm>
            <a:off x="668359" y="5658144"/>
            <a:ext cx="3890809" cy="646331"/>
          </a:xfrm>
          <a:prstGeom prst="rect">
            <a:avLst/>
          </a:prstGeom>
          <a:noFill/>
        </p:spPr>
        <p:txBody>
          <a:bodyPr wrap="none" rtlCol="0">
            <a:spAutoFit/>
          </a:bodyPr>
          <a:lstStyle/>
          <a:p>
            <a:r>
              <a:rPr lang="ja-JP" altLang="en-US" sz="3600" b="1">
                <a:latin typeface="MS Gothic" panose="020B0609070205080204" pitchFamily="49" charset="-128"/>
                <a:ea typeface="MS Gothic" panose="020B0609070205080204" pitchFamily="49" charset="-128"/>
              </a:rPr>
              <a:t>正しいプログラム</a:t>
            </a:r>
          </a:p>
        </p:txBody>
      </p:sp>
      <p:sp>
        <p:nvSpPr>
          <p:cNvPr id="30" name="右矢印 29">
            <a:extLst>
              <a:ext uri="{FF2B5EF4-FFF2-40B4-BE49-F238E27FC236}">
                <a16:creationId xmlns:a16="http://schemas.microsoft.com/office/drawing/2014/main" id="{CB1FDA6D-4DEB-AE4A-BAC4-E67B83E2A632}"/>
              </a:ext>
            </a:extLst>
          </p:cNvPr>
          <p:cNvSpPr/>
          <p:nvPr/>
        </p:nvSpPr>
        <p:spPr>
          <a:xfrm rot="10800000">
            <a:off x="4067994" y="4931732"/>
            <a:ext cx="929326" cy="52842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9484BF59-6566-3B4E-A980-3A30C254E879}"/>
              </a:ext>
            </a:extLst>
          </p:cNvPr>
          <p:cNvSpPr txBox="1"/>
          <p:nvPr/>
        </p:nvSpPr>
        <p:spPr>
          <a:xfrm>
            <a:off x="5188255" y="5415657"/>
            <a:ext cx="2656496" cy="1077218"/>
          </a:xfrm>
          <a:prstGeom prst="rect">
            <a:avLst/>
          </a:prstGeom>
          <a:noFill/>
        </p:spPr>
        <p:txBody>
          <a:bodyPr wrap="none" rtlCol="0">
            <a:spAutoFit/>
          </a:bodyPr>
          <a:lstStyle/>
          <a:p>
            <a:r>
              <a:rPr lang="ja-JP" altLang="en-US" sz="3200" b="1">
                <a:solidFill>
                  <a:schemeClr val="accent1"/>
                </a:solidFill>
                <a:latin typeface="MS Gothic" panose="020B0609070205080204" pitchFamily="49" charset="-128"/>
                <a:ea typeface="MS Gothic" panose="020B0609070205080204" pitchFamily="49" charset="-128"/>
              </a:rPr>
              <a:t>論理</a:t>
            </a:r>
            <a:r>
              <a:rPr kumimoji="1" lang="ja-JP" altLang="en-US" sz="3200" b="1">
                <a:solidFill>
                  <a:schemeClr val="accent1"/>
                </a:solidFill>
                <a:latin typeface="MS Gothic" panose="020B0609070205080204" pitchFamily="49" charset="-128"/>
                <a:ea typeface="MS Gothic" panose="020B0609070205080204" pitchFamily="49" charset="-128"/>
              </a:rPr>
              <a:t>エラー</a:t>
            </a:r>
            <a:r>
              <a:rPr kumimoji="1" lang="ja-JP" altLang="en-US" sz="3200" b="1">
                <a:latin typeface="MS Gothic" panose="020B0609070205080204" pitchFamily="49" charset="-128"/>
                <a:ea typeface="MS Gothic" panose="020B0609070205080204" pitchFamily="49" charset="-128"/>
              </a:rPr>
              <a:t>に</a:t>
            </a:r>
            <a:endParaRPr kumimoji="1" lang="en-US" altLang="ja-JP" sz="3200" b="1" dirty="0">
              <a:latin typeface="MS Gothic" panose="020B0609070205080204" pitchFamily="49" charset="-128"/>
              <a:ea typeface="MS Gothic" panose="020B0609070205080204" pitchFamily="49" charset="-128"/>
            </a:endParaRPr>
          </a:p>
          <a:p>
            <a:r>
              <a:rPr kumimoji="1" lang="ja-JP" altLang="en-US" sz="3200" b="1">
                <a:latin typeface="MS Gothic" panose="020B0609070205080204" pitchFamily="49" charset="-128"/>
                <a:ea typeface="MS Gothic" panose="020B0609070205080204" pitchFamily="49" charset="-128"/>
              </a:rPr>
              <a:t>対する</a:t>
            </a:r>
            <a:r>
              <a:rPr kumimoji="1" lang="en-US" altLang="ja-JP" sz="3200" b="1" dirty="0">
                <a:latin typeface="MS Gothic" panose="020B0609070205080204" pitchFamily="49" charset="-128"/>
                <a:ea typeface="MS Gothic" panose="020B0609070205080204" pitchFamily="49" charset="-128"/>
              </a:rPr>
              <a:t>APR</a:t>
            </a:r>
            <a:endParaRPr kumimoji="1" lang="ja-JP" altLang="en-US" sz="3200" b="1">
              <a:latin typeface="MS Gothic" panose="020B0609070205080204" pitchFamily="49" charset="-128"/>
              <a:ea typeface="MS Gothic" panose="020B0609070205080204" pitchFamily="49" charset="-128"/>
            </a:endParaRPr>
          </a:p>
        </p:txBody>
      </p:sp>
      <p:sp>
        <p:nvSpPr>
          <p:cNvPr id="4" name="スライド番号プレースホルダー 3">
            <a:extLst>
              <a:ext uri="{FF2B5EF4-FFF2-40B4-BE49-F238E27FC236}">
                <a16:creationId xmlns:a16="http://schemas.microsoft.com/office/drawing/2014/main" id="{EB3685DD-F2D6-C340-A548-AD911438128E}"/>
              </a:ext>
            </a:extLst>
          </p:cNvPr>
          <p:cNvSpPr>
            <a:spLocks noGrp="1"/>
          </p:cNvSpPr>
          <p:nvPr>
            <p:ph type="sldNum" sz="quarter" idx="12"/>
          </p:nvPr>
        </p:nvSpPr>
        <p:spPr/>
        <p:txBody>
          <a:bodyPr/>
          <a:lstStyle/>
          <a:p>
            <a:fld id="{FA1022E7-004F-2642-A386-7968DDBA477C}" type="slidenum">
              <a:rPr kumimoji="1" lang="ja-JP" altLang="en-US" sz="2000" b="1" smtClean="0"/>
              <a:t>7</a:t>
            </a:fld>
            <a:endParaRPr kumimoji="1" lang="ja-JP" altLang="en-US" sz="2000" b="1"/>
          </a:p>
        </p:txBody>
      </p:sp>
    </p:spTree>
    <p:extLst>
      <p:ext uri="{BB962C8B-B14F-4D97-AF65-F5344CB8AC3E}">
        <p14:creationId xmlns:p14="http://schemas.microsoft.com/office/powerpoint/2010/main" val="4068195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27214-A3EB-E448-918F-C5344523E94B}"/>
              </a:ext>
            </a:extLst>
          </p:cNvPr>
          <p:cNvSpPr>
            <a:spLocks noGrp="1"/>
          </p:cNvSpPr>
          <p:nvPr>
            <p:ph type="title"/>
          </p:nvPr>
        </p:nvSpPr>
        <p:spPr/>
        <p:txBody>
          <a:bodyPr/>
          <a:lstStyle/>
          <a:p>
            <a:r>
              <a:rPr kumimoji="1" lang="ja-JP" altLang="en-US" b="1">
                <a:solidFill>
                  <a:srgbClr val="FF0000"/>
                </a:solidFill>
                <a:latin typeface="MS Gothic" panose="020B0609070205080204" pitchFamily="49" charset="-128"/>
                <a:ea typeface="MS Gothic" panose="020B0609070205080204" pitchFamily="49" charset="-128"/>
              </a:rPr>
              <a:t>現在の研究の意義</a:t>
            </a:r>
          </a:p>
        </p:txBody>
      </p:sp>
      <p:sp>
        <p:nvSpPr>
          <p:cNvPr id="3" name="コンテンツ プレースホルダー 2">
            <a:extLst>
              <a:ext uri="{FF2B5EF4-FFF2-40B4-BE49-F238E27FC236}">
                <a16:creationId xmlns:a16="http://schemas.microsoft.com/office/drawing/2014/main" id="{98BEF5B3-32FB-D548-B3D3-D89C5196FB4B}"/>
              </a:ext>
            </a:extLst>
          </p:cNvPr>
          <p:cNvSpPr>
            <a:spLocks noGrp="1"/>
          </p:cNvSpPr>
          <p:nvPr>
            <p:ph idx="1"/>
          </p:nvPr>
        </p:nvSpPr>
        <p:spPr>
          <a:xfrm>
            <a:off x="838200" y="1825624"/>
            <a:ext cx="10515600" cy="4667251"/>
          </a:xfrm>
        </p:spPr>
        <p:txBody>
          <a:bodyPr>
            <a:normAutofit/>
          </a:bodyPr>
          <a:lstStyle/>
          <a:p>
            <a:pPr marL="0" indent="0">
              <a:buNone/>
            </a:pPr>
            <a:r>
              <a:rPr lang="ja-JP" altLang="en-US" sz="3600" b="1">
                <a:latin typeface="MS Gothic" panose="020B0609070205080204" pitchFamily="49" charset="-128"/>
                <a:ea typeface="MS Gothic" panose="020B0609070205080204" pitchFamily="49" charset="-128"/>
              </a:rPr>
              <a:t>併用がうまくいけば，学生のエラープログラムを正常に動作するプログラムに書き換えることができる</a:t>
            </a:r>
            <a:endParaRPr lang="en-US" altLang="ja-JP" sz="3600" b="1" dirty="0">
              <a:latin typeface="MS Gothic" panose="020B0609070205080204" pitchFamily="49" charset="-128"/>
              <a:ea typeface="MS Gothic" panose="020B0609070205080204" pitchFamily="49" charset="-128"/>
            </a:endParaRPr>
          </a:p>
          <a:p>
            <a:pPr marL="0" indent="0">
              <a:buNone/>
            </a:pPr>
            <a:r>
              <a:rPr lang="en-US" altLang="ja-JP" sz="3600" b="1" dirty="0">
                <a:latin typeface="MS Gothic" panose="020B0609070205080204" pitchFamily="49" charset="-128"/>
                <a:ea typeface="MS Gothic" panose="020B0609070205080204" pitchFamily="49" charset="-128"/>
              </a:rPr>
              <a:t>-&gt; </a:t>
            </a:r>
            <a:r>
              <a:rPr lang="ja-JP" altLang="en-US" sz="3600" b="1">
                <a:solidFill>
                  <a:srgbClr val="FF0000"/>
                </a:solidFill>
                <a:latin typeface="MS Gothic" panose="020B0609070205080204" pitchFamily="49" charset="-128"/>
                <a:ea typeface="MS Gothic" panose="020B0609070205080204" pitchFamily="49" charset="-128"/>
              </a:rPr>
              <a:t>デバッグ支援</a:t>
            </a:r>
            <a:r>
              <a:rPr lang="ja-JP" altLang="en-US" sz="3600" b="1">
                <a:latin typeface="MS Gothic" panose="020B0609070205080204" pitchFamily="49" charset="-128"/>
                <a:ea typeface="MS Gothic" panose="020B0609070205080204" pitchFamily="49" charset="-128"/>
              </a:rPr>
              <a:t>に活用</a:t>
            </a:r>
            <a:r>
              <a:rPr lang="en-US" altLang="ja-JP" sz="3600" b="1" dirty="0">
                <a:latin typeface="MS Gothic" panose="020B0609070205080204" pitchFamily="49" charset="-128"/>
                <a:ea typeface="MS Gothic" panose="020B0609070205080204" pitchFamily="49" charset="-128"/>
              </a:rPr>
              <a:t>(</a:t>
            </a:r>
            <a:r>
              <a:rPr lang="ja-JP" altLang="en-US" sz="3600" b="1">
                <a:latin typeface="MS Gothic" panose="020B0609070205080204" pitchFamily="49" charset="-128"/>
                <a:ea typeface="MS Gothic" panose="020B0609070205080204" pitchFamily="49" charset="-128"/>
              </a:rPr>
              <a:t>修正を与える，デバッグ問題を作るなど</a:t>
            </a:r>
            <a:r>
              <a:rPr lang="en-US" altLang="ja-JP" sz="3600" b="1" dirty="0">
                <a:latin typeface="MS Gothic" panose="020B0609070205080204" pitchFamily="49" charset="-128"/>
                <a:ea typeface="MS Gothic" panose="020B0609070205080204" pitchFamily="49" charset="-128"/>
              </a:rPr>
              <a:t>)</a:t>
            </a:r>
          </a:p>
        </p:txBody>
      </p:sp>
      <p:sp>
        <p:nvSpPr>
          <p:cNvPr id="5" name="スライド番号プレースホルダー 4">
            <a:extLst>
              <a:ext uri="{FF2B5EF4-FFF2-40B4-BE49-F238E27FC236}">
                <a16:creationId xmlns:a16="http://schemas.microsoft.com/office/drawing/2014/main" id="{858FE8CE-3AF1-C94D-8920-170962BA337C}"/>
              </a:ext>
            </a:extLst>
          </p:cNvPr>
          <p:cNvSpPr>
            <a:spLocks noGrp="1"/>
          </p:cNvSpPr>
          <p:nvPr>
            <p:ph type="sldNum" sz="quarter" idx="12"/>
          </p:nvPr>
        </p:nvSpPr>
        <p:spPr/>
        <p:txBody>
          <a:bodyPr/>
          <a:lstStyle/>
          <a:p>
            <a:fld id="{FA1022E7-004F-2642-A386-7968DDBA477C}" type="slidenum">
              <a:rPr kumimoji="1" lang="ja-JP" altLang="en-US" sz="2000" b="1" smtClean="0"/>
              <a:t>8</a:t>
            </a:fld>
            <a:endParaRPr kumimoji="1" lang="ja-JP" altLang="en-US" sz="2000" b="1"/>
          </a:p>
        </p:txBody>
      </p:sp>
    </p:spTree>
    <p:extLst>
      <p:ext uri="{BB962C8B-B14F-4D97-AF65-F5344CB8AC3E}">
        <p14:creationId xmlns:p14="http://schemas.microsoft.com/office/powerpoint/2010/main" val="4199643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27214-A3EB-E448-918F-C5344523E94B}"/>
              </a:ext>
            </a:extLst>
          </p:cNvPr>
          <p:cNvSpPr>
            <a:spLocks noGrp="1"/>
          </p:cNvSpPr>
          <p:nvPr>
            <p:ph type="title"/>
          </p:nvPr>
        </p:nvSpPr>
        <p:spPr/>
        <p:txBody>
          <a:bodyPr/>
          <a:lstStyle/>
          <a:p>
            <a:r>
              <a:rPr kumimoji="1" lang="en-US" altLang="ja-JP" b="1" dirty="0">
                <a:latin typeface="MS Gothic" panose="020B0609070205080204" pitchFamily="49" charset="-128"/>
                <a:ea typeface="MS Gothic" panose="020B0609070205080204" pitchFamily="49" charset="-128"/>
              </a:rPr>
              <a:t>LA4SE</a:t>
            </a:r>
            <a:r>
              <a:rPr kumimoji="1" lang="ja-JP" altLang="en-US" b="1">
                <a:latin typeface="MS Gothic" panose="020B0609070205080204" pitchFamily="49" charset="-128"/>
                <a:ea typeface="MS Gothic" panose="020B0609070205080204" pitchFamily="49" charset="-128"/>
              </a:rPr>
              <a:t>の紹介（おまけ）</a:t>
            </a:r>
          </a:p>
        </p:txBody>
      </p:sp>
      <p:sp>
        <p:nvSpPr>
          <p:cNvPr id="3" name="コンテンツ プレースホルダー 2">
            <a:extLst>
              <a:ext uri="{FF2B5EF4-FFF2-40B4-BE49-F238E27FC236}">
                <a16:creationId xmlns:a16="http://schemas.microsoft.com/office/drawing/2014/main" id="{98BEF5B3-32FB-D548-B3D3-D89C5196FB4B}"/>
              </a:ext>
            </a:extLst>
          </p:cNvPr>
          <p:cNvSpPr>
            <a:spLocks noGrp="1"/>
          </p:cNvSpPr>
          <p:nvPr>
            <p:ph idx="1"/>
          </p:nvPr>
        </p:nvSpPr>
        <p:spPr>
          <a:xfrm>
            <a:off x="838200" y="1825624"/>
            <a:ext cx="11095892" cy="4667251"/>
          </a:xfrm>
        </p:spPr>
        <p:txBody>
          <a:bodyPr>
            <a:normAutofit/>
          </a:bodyPr>
          <a:lstStyle/>
          <a:p>
            <a:pPr marL="0" indent="0">
              <a:buNone/>
            </a:pPr>
            <a:r>
              <a:rPr lang="ja-JP" altLang="en-US" sz="3600" b="1">
                <a:solidFill>
                  <a:srgbClr val="FF0000"/>
                </a:solidFill>
                <a:latin typeface="MS Gothic" panose="020B0609070205080204" pitchFamily="49" charset="-128"/>
                <a:ea typeface="MS Gothic" panose="020B0609070205080204" pitchFamily="49" charset="-128"/>
              </a:rPr>
              <a:t>プログラミング教育</a:t>
            </a:r>
            <a:r>
              <a:rPr lang="en-US" altLang="ja-JP" sz="3600" b="1" dirty="0">
                <a:solidFill>
                  <a:srgbClr val="FF0000"/>
                </a:solidFill>
                <a:latin typeface="MS Gothic" panose="020B0609070205080204" pitchFamily="49" charset="-128"/>
                <a:ea typeface="MS Gothic" panose="020B0609070205080204" pitchFamily="49" charset="-128"/>
              </a:rPr>
              <a:t> ×</a:t>
            </a:r>
            <a:r>
              <a:rPr lang="ja-JP" altLang="en-US" sz="3600" b="1">
                <a:solidFill>
                  <a:srgbClr val="FF0000"/>
                </a:solidFill>
                <a:latin typeface="MS Gothic" panose="020B0609070205080204" pitchFamily="49" charset="-128"/>
                <a:ea typeface="MS Gothic" panose="020B0609070205080204" pitchFamily="49" charset="-128"/>
              </a:rPr>
              <a:t> ソフトウェアエンジニアリング</a:t>
            </a:r>
            <a:endParaRPr lang="en-US" altLang="ja-JP" sz="3600" b="1" dirty="0">
              <a:solidFill>
                <a:srgbClr val="FF0000"/>
              </a:solidFill>
              <a:latin typeface="MS Gothic" panose="020B0609070205080204" pitchFamily="49" charset="-128"/>
              <a:ea typeface="MS Gothic" panose="020B0609070205080204" pitchFamily="49" charset="-128"/>
            </a:endParaRPr>
          </a:p>
          <a:p>
            <a:pPr marL="0" indent="0">
              <a:buNone/>
            </a:pPr>
            <a:r>
              <a:rPr lang="en-US" altLang="ja-JP" sz="3600" b="1" dirty="0">
                <a:solidFill>
                  <a:srgbClr val="FF0000"/>
                </a:solidFill>
                <a:latin typeface="MS Gothic" panose="020B0609070205080204" pitchFamily="49" charset="-128"/>
                <a:ea typeface="MS Gothic" panose="020B0609070205080204" pitchFamily="49" charset="-128"/>
              </a:rPr>
              <a:t>					</a:t>
            </a:r>
          </a:p>
          <a:p>
            <a:pPr marL="0" indent="0">
              <a:buNone/>
            </a:pPr>
            <a:r>
              <a:rPr lang="en-US" altLang="ja-JP" sz="3600" b="1" dirty="0">
                <a:solidFill>
                  <a:srgbClr val="FF0000"/>
                </a:solidFill>
                <a:latin typeface="MS Gothic" panose="020B0609070205080204" pitchFamily="49" charset="-128"/>
                <a:ea typeface="MS Gothic" panose="020B0609070205080204" pitchFamily="49" charset="-128"/>
              </a:rPr>
              <a:t>					</a:t>
            </a:r>
            <a:r>
              <a:rPr lang="ja-JP" altLang="en-US" sz="3600" b="1">
                <a:solidFill>
                  <a:srgbClr val="FF0000"/>
                </a:solidFill>
                <a:latin typeface="MS Gothic" panose="020B0609070205080204" pitchFamily="49" charset="-128"/>
                <a:ea typeface="MS Gothic" panose="020B0609070205080204" pitchFamily="49" charset="-128"/>
              </a:rPr>
              <a:t>　　</a:t>
            </a:r>
            <a:r>
              <a:rPr lang="en-US" altLang="ja-JP" sz="3600" b="1" dirty="0">
                <a:latin typeface="MS Gothic" panose="020B0609070205080204" pitchFamily="49" charset="-128"/>
                <a:ea typeface="MS Gothic" panose="020B0609070205080204" pitchFamily="49" charset="-128"/>
              </a:rPr>
              <a:t>APR(</a:t>
            </a:r>
            <a:r>
              <a:rPr lang="ja-JP" altLang="en-US" sz="3600" b="1">
                <a:latin typeface="MS Gothic" panose="020B0609070205080204" pitchFamily="49" charset="-128"/>
                <a:ea typeface="MS Gothic" panose="020B0609070205080204" pitchFamily="49" charset="-128"/>
              </a:rPr>
              <a:t>自動プログラム修正</a:t>
            </a:r>
            <a:r>
              <a:rPr lang="en-US" altLang="ja-JP" sz="3600" b="1" dirty="0">
                <a:latin typeface="MS Gothic" panose="020B0609070205080204" pitchFamily="49" charset="-128"/>
                <a:ea typeface="MS Gothic" panose="020B0609070205080204" pitchFamily="49" charset="-128"/>
              </a:rPr>
              <a:t>)</a:t>
            </a:r>
          </a:p>
          <a:p>
            <a:pPr marL="0" indent="0">
              <a:buNone/>
            </a:pPr>
            <a:r>
              <a:rPr lang="ja-JP" altLang="en-US" sz="3600" b="1">
                <a:solidFill>
                  <a:srgbClr val="FF0000"/>
                </a:solidFill>
                <a:latin typeface="MS Gothic" panose="020B0609070205080204" pitchFamily="49" charset="-128"/>
                <a:ea typeface="MS Gothic" panose="020B0609070205080204" pitchFamily="49" charset="-128"/>
              </a:rPr>
              <a:t>プログラミング教育　</a:t>
            </a:r>
            <a:r>
              <a:rPr lang="en-US" altLang="ja-JP" sz="3600" b="1" dirty="0">
                <a:latin typeface="MS Gothic" panose="020B0609070205080204" pitchFamily="49" charset="-128"/>
                <a:ea typeface="MS Gothic" panose="020B0609070205080204" pitchFamily="49" charset="-128"/>
              </a:rPr>
              <a:t>×</a:t>
            </a:r>
            <a:r>
              <a:rPr lang="ja-JP" altLang="en-US" sz="3600" b="1">
                <a:latin typeface="MS Gothic" panose="020B0609070205080204" pitchFamily="49" charset="-128"/>
                <a:ea typeface="MS Gothic" panose="020B0609070205080204" pitchFamily="49" charset="-128"/>
              </a:rPr>
              <a:t>　自動ミューテーション</a:t>
            </a:r>
            <a:endParaRPr lang="en-US" altLang="ja-JP" sz="3600" b="1" dirty="0">
              <a:latin typeface="MS Gothic" panose="020B0609070205080204" pitchFamily="49" charset="-128"/>
              <a:ea typeface="MS Gothic" panose="020B0609070205080204" pitchFamily="49" charset="-128"/>
            </a:endParaRPr>
          </a:p>
          <a:p>
            <a:pPr marL="0" indent="0">
              <a:buNone/>
            </a:pPr>
            <a:r>
              <a:rPr lang="en-US" altLang="ja-JP" sz="3600" b="1" dirty="0">
                <a:latin typeface="MS Gothic" panose="020B0609070205080204" pitchFamily="49" charset="-128"/>
                <a:ea typeface="MS Gothic" panose="020B0609070205080204" pitchFamily="49" charset="-128"/>
              </a:rPr>
              <a:t>					</a:t>
            </a:r>
            <a:r>
              <a:rPr lang="ja-JP" altLang="en-US" sz="3600" b="1">
                <a:latin typeface="MS Gothic" panose="020B0609070205080204" pitchFamily="49" charset="-128"/>
                <a:ea typeface="MS Gothic" panose="020B0609070205080204" pitchFamily="49" charset="-128"/>
              </a:rPr>
              <a:t>　　類似コード生成</a:t>
            </a:r>
            <a:endParaRPr lang="en-US" altLang="ja-JP" sz="3600" b="1" dirty="0">
              <a:latin typeface="MS Gothic" panose="020B0609070205080204" pitchFamily="49" charset="-128"/>
              <a:ea typeface="MS Gothic" panose="020B0609070205080204" pitchFamily="49" charset="-128"/>
            </a:endParaRPr>
          </a:p>
        </p:txBody>
      </p:sp>
      <p:sp>
        <p:nvSpPr>
          <p:cNvPr id="5" name="スライド番号プレースホルダー 4">
            <a:extLst>
              <a:ext uri="{FF2B5EF4-FFF2-40B4-BE49-F238E27FC236}">
                <a16:creationId xmlns:a16="http://schemas.microsoft.com/office/drawing/2014/main" id="{FFF03ABD-B943-FF47-B9A0-E2788E8273AA}"/>
              </a:ext>
            </a:extLst>
          </p:cNvPr>
          <p:cNvSpPr>
            <a:spLocks noGrp="1"/>
          </p:cNvSpPr>
          <p:nvPr>
            <p:ph type="sldNum" sz="quarter" idx="12"/>
          </p:nvPr>
        </p:nvSpPr>
        <p:spPr/>
        <p:txBody>
          <a:bodyPr/>
          <a:lstStyle/>
          <a:p>
            <a:fld id="{FA1022E7-004F-2642-A386-7968DDBA477C}" type="slidenum">
              <a:rPr kumimoji="1" lang="ja-JP" altLang="en-US" smtClean="0"/>
              <a:t>9</a:t>
            </a:fld>
            <a:endParaRPr kumimoji="1" lang="ja-JP" altLang="en-US"/>
          </a:p>
        </p:txBody>
      </p:sp>
      <p:sp>
        <p:nvSpPr>
          <p:cNvPr id="4" name="テキスト ボックス 3">
            <a:extLst>
              <a:ext uri="{FF2B5EF4-FFF2-40B4-BE49-F238E27FC236}">
                <a16:creationId xmlns:a16="http://schemas.microsoft.com/office/drawing/2014/main" id="{AD657D8B-7D39-E344-980D-13CFEA8FA15B}"/>
              </a:ext>
            </a:extLst>
          </p:cNvPr>
          <p:cNvSpPr txBox="1"/>
          <p:nvPr/>
        </p:nvSpPr>
        <p:spPr>
          <a:xfrm>
            <a:off x="6632294" y="5868365"/>
            <a:ext cx="184731" cy="369332"/>
          </a:xfrm>
          <a:prstGeom prst="rect">
            <a:avLst/>
          </a:prstGeom>
          <a:noFill/>
        </p:spPr>
        <p:txBody>
          <a:bodyPr wrap="none" rtlCol="0">
            <a:spAutoFit/>
          </a:bodyPr>
          <a:lstStyle/>
          <a:p>
            <a:endParaRPr kumimoji="1" lang="ja-JP" altLang="en-US"/>
          </a:p>
        </p:txBody>
      </p:sp>
    </p:spTree>
    <p:extLst>
      <p:ext uri="{BB962C8B-B14F-4D97-AF65-F5344CB8AC3E}">
        <p14:creationId xmlns:p14="http://schemas.microsoft.com/office/powerpoint/2010/main" val="1455606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27214-A3EB-E448-918F-C5344523E94B}"/>
              </a:ext>
            </a:extLst>
          </p:cNvPr>
          <p:cNvSpPr>
            <a:spLocks noGrp="1"/>
          </p:cNvSpPr>
          <p:nvPr>
            <p:ph type="title"/>
          </p:nvPr>
        </p:nvSpPr>
        <p:spPr/>
        <p:txBody>
          <a:bodyPr/>
          <a:lstStyle/>
          <a:p>
            <a:r>
              <a:rPr lang="ja-JP" altLang="en-US" b="1">
                <a:solidFill>
                  <a:srgbClr val="FF0000"/>
                </a:solidFill>
                <a:latin typeface="MS Gothic" panose="020B0609070205080204" pitchFamily="49" charset="-128"/>
                <a:ea typeface="MS Gothic" panose="020B0609070205080204" pitchFamily="49" charset="-128"/>
              </a:rPr>
              <a:t>自動プログラム修正のイメージ</a:t>
            </a:r>
            <a:r>
              <a:rPr lang="en-US" altLang="ja-JP" b="1" dirty="0">
                <a:solidFill>
                  <a:srgbClr val="FF0000"/>
                </a:solidFill>
                <a:latin typeface="MS Gothic" panose="020B0609070205080204" pitchFamily="49" charset="-128"/>
                <a:ea typeface="MS Gothic" panose="020B0609070205080204" pitchFamily="49" charset="-128"/>
              </a:rPr>
              <a:t>(</a:t>
            </a:r>
            <a:r>
              <a:rPr lang="en-US" altLang="ja-JP" b="1" dirty="0" err="1">
                <a:solidFill>
                  <a:srgbClr val="FF0000"/>
                </a:solidFill>
                <a:latin typeface="MS Gothic" panose="020B0609070205080204" pitchFamily="49" charset="-128"/>
                <a:ea typeface="MS Gothic" panose="020B0609070205080204" pitchFamily="49" charset="-128"/>
              </a:rPr>
              <a:t>GenProg</a:t>
            </a:r>
            <a:r>
              <a:rPr lang="en-US" altLang="ja-JP" b="1" dirty="0">
                <a:solidFill>
                  <a:srgbClr val="FF0000"/>
                </a:solidFill>
                <a:latin typeface="MS Gothic" panose="020B0609070205080204" pitchFamily="49" charset="-128"/>
                <a:ea typeface="MS Gothic" panose="020B0609070205080204" pitchFamily="49" charset="-128"/>
              </a:rPr>
              <a:t>)</a:t>
            </a:r>
            <a:endParaRPr kumimoji="1" lang="ja-JP" altLang="en-US" b="1">
              <a:solidFill>
                <a:srgbClr val="FF0000"/>
              </a:solidFill>
              <a:latin typeface="MS Gothic" panose="020B0609070205080204" pitchFamily="49" charset="-128"/>
              <a:ea typeface="MS Gothic" panose="020B0609070205080204" pitchFamily="49" charset="-128"/>
            </a:endParaRPr>
          </a:p>
        </p:txBody>
      </p:sp>
      <p:grpSp>
        <p:nvGrpSpPr>
          <p:cNvPr id="13" name="グループ化 12">
            <a:extLst>
              <a:ext uri="{FF2B5EF4-FFF2-40B4-BE49-F238E27FC236}">
                <a16:creationId xmlns:a16="http://schemas.microsoft.com/office/drawing/2014/main" id="{DDEEC3B1-EA9B-E84B-A581-157778517D3E}"/>
              </a:ext>
            </a:extLst>
          </p:cNvPr>
          <p:cNvGrpSpPr/>
          <p:nvPr/>
        </p:nvGrpSpPr>
        <p:grpSpPr>
          <a:xfrm>
            <a:off x="360620" y="2866917"/>
            <a:ext cx="1676399" cy="1695665"/>
            <a:chOff x="681038" y="2557463"/>
            <a:chExt cx="2133599" cy="1962150"/>
          </a:xfrm>
        </p:grpSpPr>
        <p:pic>
          <p:nvPicPr>
            <p:cNvPr id="5" name="グラフィックス 4" descr="ブログ 枠線">
              <a:extLst>
                <a:ext uri="{FF2B5EF4-FFF2-40B4-BE49-F238E27FC236}">
                  <a16:creationId xmlns:a16="http://schemas.microsoft.com/office/drawing/2014/main" id="{D5A53558-734D-464A-887D-AE17DE63EB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2487" y="2557463"/>
              <a:ext cx="1962150" cy="1962150"/>
            </a:xfrm>
            <a:prstGeom prst="rect">
              <a:avLst/>
            </a:prstGeom>
          </p:spPr>
        </p:pic>
        <p:pic>
          <p:nvPicPr>
            <p:cNvPr id="10" name="グラフィックス 9" descr="甲虫 単色塗りつぶし">
              <a:extLst>
                <a:ext uri="{FF2B5EF4-FFF2-40B4-BE49-F238E27FC236}">
                  <a16:creationId xmlns:a16="http://schemas.microsoft.com/office/drawing/2014/main" id="{07F3B6BF-1DE7-024F-AD57-02B673F1BD6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1038" y="2733675"/>
              <a:ext cx="914400" cy="914400"/>
            </a:xfrm>
            <a:prstGeom prst="rect">
              <a:avLst/>
            </a:prstGeom>
          </p:spPr>
        </p:pic>
      </p:grpSp>
      <p:sp>
        <p:nvSpPr>
          <p:cNvPr id="16" name="右矢印 15">
            <a:extLst>
              <a:ext uri="{FF2B5EF4-FFF2-40B4-BE49-F238E27FC236}">
                <a16:creationId xmlns:a16="http://schemas.microsoft.com/office/drawing/2014/main" id="{00983547-B6DA-FF4C-AA84-A2498CE44AA8}"/>
              </a:ext>
            </a:extLst>
          </p:cNvPr>
          <p:cNvSpPr/>
          <p:nvPr/>
        </p:nvSpPr>
        <p:spPr>
          <a:xfrm>
            <a:off x="3290887" y="3406378"/>
            <a:ext cx="1343025" cy="61674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右矢印 16">
            <a:extLst>
              <a:ext uri="{FF2B5EF4-FFF2-40B4-BE49-F238E27FC236}">
                <a16:creationId xmlns:a16="http://schemas.microsoft.com/office/drawing/2014/main" id="{9A5BBBA6-0F6D-404E-816F-23D15DD82D44}"/>
              </a:ext>
            </a:extLst>
          </p:cNvPr>
          <p:cNvSpPr/>
          <p:nvPr/>
        </p:nvSpPr>
        <p:spPr>
          <a:xfrm>
            <a:off x="7058026" y="3429000"/>
            <a:ext cx="1343025" cy="61674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75E4775B-171B-E44C-B4B0-45B664CDDA30}"/>
              </a:ext>
            </a:extLst>
          </p:cNvPr>
          <p:cNvSpPr txBox="1"/>
          <p:nvPr/>
        </p:nvSpPr>
        <p:spPr>
          <a:xfrm>
            <a:off x="282564" y="5110161"/>
            <a:ext cx="3427541" cy="1200329"/>
          </a:xfrm>
          <a:prstGeom prst="rect">
            <a:avLst/>
          </a:prstGeom>
          <a:noFill/>
        </p:spPr>
        <p:txBody>
          <a:bodyPr wrap="none" rtlCol="0">
            <a:spAutoFit/>
          </a:bodyPr>
          <a:lstStyle/>
          <a:p>
            <a:r>
              <a:rPr lang="ja-JP" altLang="en-US" sz="3600" b="1">
                <a:latin typeface="MS Gothic" panose="020B0609070205080204" pitchFamily="49" charset="-128"/>
                <a:ea typeface="MS Gothic" panose="020B0609070205080204" pitchFamily="49" charset="-128"/>
              </a:rPr>
              <a:t>バグ</a:t>
            </a:r>
            <a:r>
              <a:rPr kumimoji="1" lang="ja-JP" altLang="en-US" sz="3600" b="1">
                <a:latin typeface="MS Gothic" panose="020B0609070205080204" pitchFamily="49" charset="-128"/>
                <a:ea typeface="MS Gothic" panose="020B0609070205080204" pitchFamily="49" charset="-128"/>
              </a:rPr>
              <a:t>ありコード</a:t>
            </a:r>
            <a:endParaRPr kumimoji="1" lang="en-US" altLang="ja-JP" sz="3600" b="1" dirty="0">
              <a:latin typeface="MS Gothic" panose="020B0609070205080204" pitchFamily="49" charset="-128"/>
              <a:ea typeface="MS Gothic" panose="020B0609070205080204" pitchFamily="49" charset="-128"/>
            </a:endParaRPr>
          </a:p>
          <a:p>
            <a:r>
              <a:rPr kumimoji="1" lang="ja-JP" altLang="en-US" sz="3600" b="1">
                <a:latin typeface="MS Gothic" panose="020B0609070205080204" pitchFamily="49" charset="-128"/>
                <a:ea typeface="MS Gothic" panose="020B0609070205080204" pitchFamily="49" charset="-128"/>
              </a:rPr>
              <a:t>とテストケース</a:t>
            </a:r>
          </a:p>
        </p:txBody>
      </p:sp>
      <p:sp>
        <p:nvSpPr>
          <p:cNvPr id="21" name="テキスト ボックス 20">
            <a:extLst>
              <a:ext uri="{FF2B5EF4-FFF2-40B4-BE49-F238E27FC236}">
                <a16:creationId xmlns:a16="http://schemas.microsoft.com/office/drawing/2014/main" id="{DFD95E77-B7DC-A948-B8A2-E04AD505357B}"/>
              </a:ext>
            </a:extLst>
          </p:cNvPr>
          <p:cNvSpPr txBox="1"/>
          <p:nvPr/>
        </p:nvSpPr>
        <p:spPr>
          <a:xfrm>
            <a:off x="4890790" y="4833163"/>
            <a:ext cx="2037737" cy="1754326"/>
          </a:xfrm>
          <a:prstGeom prst="rect">
            <a:avLst/>
          </a:prstGeom>
          <a:noFill/>
        </p:spPr>
        <p:txBody>
          <a:bodyPr wrap="none" rtlCol="0">
            <a:spAutoFit/>
          </a:bodyPr>
          <a:lstStyle/>
          <a:p>
            <a:r>
              <a:rPr lang="ja-JP" altLang="en-US" sz="3600" b="1">
                <a:latin typeface="MS Gothic" panose="020B0609070205080204" pitchFamily="49" charset="-128"/>
                <a:ea typeface="MS Gothic" panose="020B0609070205080204" pitchFamily="49" charset="-128"/>
              </a:rPr>
              <a:t>修正</a:t>
            </a:r>
            <a:endParaRPr lang="en-US" altLang="ja-JP" sz="3600" b="1" dirty="0">
              <a:latin typeface="MS Gothic" panose="020B0609070205080204" pitchFamily="49" charset="-128"/>
              <a:ea typeface="MS Gothic" panose="020B0609070205080204" pitchFamily="49" charset="-128"/>
            </a:endParaRPr>
          </a:p>
          <a:p>
            <a:r>
              <a:rPr kumimoji="1" lang="ja-JP" altLang="en-US" sz="3600" b="1">
                <a:latin typeface="MS Gothic" panose="020B0609070205080204" pitchFamily="49" charset="-128"/>
                <a:ea typeface="MS Gothic" panose="020B0609070205080204" pitchFamily="49" charset="-128"/>
              </a:rPr>
              <a:t>フレーム</a:t>
            </a:r>
            <a:endParaRPr kumimoji="1" lang="en-US" altLang="ja-JP" sz="3600" b="1" dirty="0">
              <a:latin typeface="MS Gothic" panose="020B0609070205080204" pitchFamily="49" charset="-128"/>
              <a:ea typeface="MS Gothic" panose="020B0609070205080204" pitchFamily="49" charset="-128"/>
            </a:endParaRPr>
          </a:p>
          <a:p>
            <a:r>
              <a:rPr lang="ja-JP" altLang="en-US" sz="3600" b="1">
                <a:latin typeface="MS Gothic" panose="020B0609070205080204" pitchFamily="49" charset="-128"/>
                <a:ea typeface="MS Gothic" panose="020B0609070205080204" pitchFamily="49" charset="-128"/>
              </a:rPr>
              <a:t>ワーク</a:t>
            </a:r>
            <a:endParaRPr kumimoji="1" lang="ja-JP" altLang="en-US" sz="3600" b="1">
              <a:latin typeface="MS Gothic" panose="020B0609070205080204" pitchFamily="49" charset="-128"/>
              <a:ea typeface="MS Gothic" panose="020B0609070205080204" pitchFamily="49" charset="-128"/>
            </a:endParaRPr>
          </a:p>
        </p:txBody>
      </p:sp>
      <p:pic>
        <p:nvPicPr>
          <p:cNvPr id="15" name="グラフィックス 14" descr="ブログ 枠線">
            <a:extLst>
              <a:ext uri="{FF2B5EF4-FFF2-40B4-BE49-F238E27FC236}">
                <a16:creationId xmlns:a16="http://schemas.microsoft.com/office/drawing/2014/main" id="{06A5F5FD-AE90-4A4D-9186-1841E76171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47516" y="2733674"/>
            <a:ext cx="1962150" cy="1962150"/>
          </a:xfrm>
          <a:prstGeom prst="rect">
            <a:avLst/>
          </a:prstGeom>
        </p:spPr>
      </p:pic>
      <p:pic>
        <p:nvPicPr>
          <p:cNvPr id="4" name="グラフィックス 3" descr="チェックリスト 単色塗りつぶし">
            <a:extLst>
              <a:ext uri="{FF2B5EF4-FFF2-40B4-BE49-F238E27FC236}">
                <a16:creationId xmlns:a16="http://schemas.microsoft.com/office/drawing/2014/main" id="{D69CEB8B-0FD4-1743-B0EF-8A33FCC815B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37019" y="3246476"/>
            <a:ext cx="914400" cy="914400"/>
          </a:xfrm>
          <a:prstGeom prst="rect">
            <a:avLst/>
          </a:prstGeom>
        </p:spPr>
      </p:pic>
      <p:sp>
        <p:nvSpPr>
          <p:cNvPr id="24" name="テキスト ボックス 23">
            <a:extLst>
              <a:ext uri="{FF2B5EF4-FFF2-40B4-BE49-F238E27FC236}">
                <a16:creationId xmlns:a16="http://schemas.microsoft.com/office/drawing/2014/main" id="{11E56592-8912-634D-BBB5-51B3155BA6EB}"/>
              </a:ext>
            </a:extLst>
          </p:cNvPr>
          <p:cNvSpPr txBox="1"/>
          <p:nvPr/>
        </p:nvSpPr>
        <p:spPr>
          <a:xfrm>
            <a:off x="8109212" y="5387159"/>
            <a:ext cx="3890809" cy="646331"/>
          </a:xfrm>
          <a:prstGeom prst="rect">
            <a:avLst/>
          </a:prstGeom>
          <a:noFill/>
        </p:spPr>
        <p:txBody>
          <a:bodyPr wrap="none" rtlCol="0">
            <a:spAutoFit/>
          </a:bodyPr>
          <a:lstStyle/>
          <a:p>
            <a:r>
              <a:rPr kumimoji="1" lang="ja-JP" altLang="en-US" sz="3600" b="1">
                <a:latin typeface="MS Gothic" panose="020B0609070205080204" pitchFamily="49" charset="-128"/>
                <a:ea typeface="MS Gothic" panose="020B0609070205080204" pitchFamily="49" charset="-128"/>
              </a:rPr>
              <a:t>正しいプログラム</a:t>
            </a:r>
          </a:p>
        </p:txBody>
      </p:sp>
      <p:pic>
        <p:nvPicPr>
          <p:cNvPr id="9" name="グラフィックス 8" descr="優先順位 単色塗りつぶし">
            <a:extLst>
              <a:ext uri="{FF2B5EF4-FFF2-40B4-BE49-F238E27FC236}">
                <a16:creationId xmlns:a16="http://schemas.microsoft.com/office/drawing/2014/main" id="{B94EDDBD-509F-C648-90D5-2CC597E742F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03374" y="2912399"/>
            <a:ext cx="1567924" cy="1567924"/>
          </a:xfrm>
          <a:prstGeom prst="rect">
            <a:avLst/>
          </a:prstGeom>
        </p:spPr>
      </p:pic>
      <p:sp>
        <p:nvSpPr>
          <p:cNvPr id="3" name="スライド番号プレースホルダー 2">
            <a:extLst>
              <a:ext uri="{FF2B5EF4-FFF2-40B4-BE49-F238E27FC236}">
                <a16:creationId xmlns:a16="http://schemas.microsoft.com/office/drawing/2014/main" id="{47DCD563-F0D4-D846-B115-0DEA4F7DF006}"/>
              </a:ext>
            </a:extLst>
          </p:cNvPr>
          <p:cNvSpPr>
            <a:spLocks noGrp="1"/>
          </p:cNvSpPr>
          <p:nvPr>
            <p:ph type="sldNum" sz="quarter" idx="12"/>
          </p:nvPr>
        </p:nvSpPr>
        <p:spPr/>
        <p:txBody>
          <a:bodyPr/>
          <a:lstStyle/>
          <a:p>
            <a:fld id="{FA1022E7-004F-2642-A386-7968DDBA477C}" type="slidenum">
              <a:rPr kumimoji="1" lang="ja-JP" altLang="en-US" smtClean="0"/>
              <a:t>10</a:t>
            </a:fld>
            <a:endParaRPr kumimoji="1" lang="ja-JP" altLang="en-US"/>
          </a:p>
        </p:txBody>
      </p:sp>
    </p:spTree>
    <p:extLst>
      <p:ext uri="{BB962C8B-B14F-4D97-AF65-F5344CB8AC3E}">
        <p14:creationId xmlns:p14="http://schemas.microsoft.com/office/powerpoint/2010/main" val="303980650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226</TotalTime>
  <Words>909</Words>
  <Application>Microsoft Macintosh PowerPoint</Application>
  <PresentationFormat>ワイド画面</PresentationFormat>
  <Paragraphs>103</Paragraphs>
  <Slides>11</Slides>
  <Notes>10</Notes>
  <HiddenSlides>1</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MS Gothic</vt:lpstr>
      <vt:lpstr>游ゴシック</vt:lpstr>
      <vt:lpstr>游ゴシック Light</vt:lpstr>
      <vt:lpstr>Arial</vt:lpstr>
      <vt:lpstr>Office テーマ</vt:lpstr>
      <vt:lpstr>プログラミング教育支援を 目指した自動プログラム修正に関する研究</vt:lpstr>
      <vt:lpstr>自動プログラム修正(APR :Automatic Program Repair)</vt:lpstr>
      <vt:lpstr>自動プログラム修正のイメージ(DeepFix)</vt:lpstr>
      <vt:lpstr>APR×プログラミング教育</vt:lpstr>
      <vt:lpstr>APRがプログラミング教育に与える影響</vt:lpstr>
      <vt:lpstr>松尾の過去研究概要</vt:lpstr>
      <vt:lpstr>松尾の現在の研究</vt:lpstr>
      <vt:lpstr>松尾の現在の研究イメージ</vt:lpstr>
      <vt:lpstr>現在の研究の意義</vt:lpstr>
      <vt:lpstr>LA4SEの紹介（おまけ）</vt:lpstr>
      <vt:lpstr>自動プログラム修正のイメージ(GenProg)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プログラミング教育支援を 目指した自動バグ修正に 関する研究</dc:title>
  <dc:creator>松尾 春紀</dc:creator>
  <cp:lastModifiedBy>松尾 春紀</cp:lastModifiedBy>
  <cp:revision>24</cp:revision>
  <dcterms:created xsi:type="dcterms:W3CDTF">2021-05-20T02:22:49Z</dcterms:created>
  <dcterms:modified xsi:type="dcterms:W3CDTF">2021-06-03T03:59:21Z</dcterms:modified>
</cp:coreProperties>
</file>